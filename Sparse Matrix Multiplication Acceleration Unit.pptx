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Lexend SemiBold"/>
      <p:regular r:id="rId30"/>
      <p:bold r:id="rId31"/>
    </p:embeddedFont>
    <p:embeddedFont>
      <p:font typeface="Lexend ExtraBold"/>
      <p:bold r:id="rId32"/>
    </p:embeddedFont>
    <p:embeddedFont>
      <p:font typeface="Caveat"/>
      <p:regular r:id="rId33"/>
      <p:bold r:id="rId34"/>
    </p:embeddedFont>
    <p:embeddedFont>
      <p:font typeface="Bebas Neue"/>
      <p:regular r:id="rId35"/>
    </p:embeddedFont>
    <p:embeddedFont>
      <p:font typeface="Lexend"/>
      <p:regular r:id="rId36"/>
      <p:bold r:id="rId37"/>
    </p:embeddedFont>
    <p:embeddedFont>
      <p:font typeface="Oswald"/>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A11FC9-1AA4-4741-A3D7-7AA27825AD36}">
  <a:tblStyle styleId="{82A11FC9-1AA4-4741-A3D7-7AA27825AD3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xendSemiBold-bold.fntdata"/><Relationship Id="rId30" Type="http://schemas.openxmlformats.org/officeDocument/2006/relationships/font" Target="fonts/LexendSemiBold-regular.fntdata"/><Relationship Id="rId11" Type="http://schemas.openxmlformats.org/officeDocument/2006/relationships/slide" Target="slides/slide5.xml"/><Relationship Id="rId33" Type="http://schemas.openxmlformats.org/officeDocument/2006/relationships/font" Target="fonts/Caveat-regular.fntdata"/><Relationship Id="rId10" Type="http://schemas.openxmlformats.org/officeDocument/2006/relationships/slide" Target="slides/slide4.xml"/><Relationship Id="rId32" Type="http://schemas.openxmlformats.org/officeDocument/2006/relationships/font" Target="fonts/LexendExtraBold-bold.fntdata"/><Relationship Id="rId13" Type="http://schemas.openxmlformats.org/officeDocument/2006/relationships/slide" Target="slides/slide7.xml"/><Relationship Id="rId35" Type="http://schemas.openxmlformats.org/officeDocument/2006/relationships/font" Target="fonts/BebasNeue-regular.fntdata"/><Relationship Id="rId12" Type="http://schemas.openxmlformats.org/officeDocument/2006/relationships/slide" Target="slides/slide6.xml"/><Relationship Id="rId34" Type="http://schemas.openxmlformats.org/officeDocument/2006/relationships/font" Target="fonts/Caveat-bold.fntdata"/><Relationship Id="rId15" Type="http://schemas.openxmlformats.org/officeDocument/2006/relationships/slide" Target="slides/slide9.xml"/><Relationship Id="rId37" Type="http://schemas.openxmlformats.org/officeDocument/2006/relationships/font" Target="fonts/Lexend-bold.fntdata"/><Relationship Id="rId14" Type="http://schemas.openxmlformats.org/officeDocument/2006/relationships/slide" Target="slides/slide8.xml"/><Relationship Id="rId36" Type="http://schemas.openxmlformats.org/officeDocument/2006/relationships/font" Target="fonts/Lexend-regular.fntdata"/><Relationship Id="rId17" Type="http://schemas.openxmlformats.org/officeDocument/2006/relationships/slide" Target="slides/slide11.xml"/><Relationship Id="rId39" Type="http://schemas.openxmlformats.org/officeDocument/2006/relationships/font" Target="fonts/Oswald-bold.fntdata"/><Relationship Id="rId16" Type="http://schemas.openxmlformats.org/officeDocument/2006/relationships/slide" Target="slides/slide10.xml"/><Relationship Id="rId38" Type="http://schemas.openxmlformats.org/officeDocument/2006/relationships/font" Target="fonts/Oswald-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a8edc31f7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a8edc31f7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8edc31f7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8edc31f7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8edc31f7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8edc31f7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8edc31f7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8edc31f7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8edc31f7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8edc31f7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8edc31f7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8edc31f7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8edc31f7c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8edc31f7c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8edc31f7c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8edc31f7c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8edc31f7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8edc31f7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8edc31f7c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8edc31f7c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8edc31f7c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8edc31f7c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8edc31f7c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8edc31f7c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8edc31f7c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8edc31f7c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8edc31f7c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8edc31f7c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8edc31f7c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8edc31f7c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8edc31f7c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8edc31f7c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8edc31f7c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8edc31f7c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8edc31f7c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8edc31f7c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8edc31f7c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8edc31f7c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8edc31f7c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8edc31f7c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8edc31f7c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8edc31f7c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8edc31f7c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8edc31f7c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hyperlink" Target="https://www.cs.utexas.edu/~flame/pubs/GotoTOMS_revision.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203650" y="-119075"/>
            <a:ext cx="6342600" cy="2217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solidFill>
                  <a:srgbClr val="FFE599"/>
                </a:solidFill>
                <a:latin typeface="Oswald"/>
                <a:ea typeface="Oswald"/>
                <a:cs typeface="Oswald"/>
                <a:sym typeface="Oswald"/>
              </a:rPr>
              <a:t>Sparse Matrix Multiplication Acceleration Unit</a:t>
            </a:r>
            <a:endParaRPr>
              <a:solidFill>
                <a:srgbClr val="FFE599"/>
              </a:solidFill>
              <a:latin typeface="Oswald"/>
              <a:ea typeface="Oswald"/>
              <a:cs typeface="Oswald"/>
              <a:sym typeface="Oswald"/>
            </a:endParaRPr>
          </a:p>
        </p:txBody>
      </p:sp>
      <p:sp>
        <p:nvSpPr>
          <p:cNvPr id="55" name="Google Shape;55;p13"/>
          <p:cNvSpPr txBox="1"/>
          <p:nvPr/>
        </p:nvSpPr>
        <p:spPr>
          <a:xfrm>
            <a:off x="203650" y="4338375"/>
            <a:ext cx="3735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rgbClr val="FFD966"/>
                </a:solidFill>
                <a:latin typeface="Caveat"/>
                <a:ea typeface="Caveat"/>
                <a:cs typeface="Caveat"/>
                <a:sym typeface="Caveat"/>
              </a:rPr>
              <a:t>Praneeth Kodavati</a:t>
            </a:r>
            <a:endParaRPr sz="2500">
              <a:solidFill>
                <a:srgbClr val="FFD966"/>
              </a:solidFill>
              <a:latin typeface="Caveat"/>
              <a:ea typeface="Caveat"/>
              <a:cs typeface="Caveat"/>
              <a:sym typeface="Caveat"/>
            </a:endParaRPr>
          </a:p>
        </p:txBody>
      </p:sp>
      <p:sp>
        <p:nvSpPr>
          <p:cNvPr id="56" name="Google Shape;56;p13"/>
          <p:cNvSpPr txBox="1"/>
          <p:nvPr/>
        </p:nvSpPr>
        <p:spPr>
          <a:xfrm>
            <a:off x="167275" y="4645450"/>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FFD966"/>
                </a:solidFill>
                <a:latin typeface="Caveat"/>
                <a:ea typeface="Caveat"/>
                <a:cs typeface="Caveat"/>
                <a:sym typeface="Caveat"/>
              </a:rPr>
              <a:t>CS24BTECH11034</a:t>
            </a:r>
            <a:endParaRPr sz="1700"/>
          </a:p>
        </p:txBody>
      </p:sp>
      <p:sp>
        <p:nvSpPr>
          <p:cNvPr id="57" name="Google Shape;57;p13"/>
          <p:cNvSpPr txBox="1"/>
          <p:nvPr/>
        </p:nvSpPr>
        <p:spPr>
          <a:xfrm>
            <a:off x="264025" y="1908575"/>
            <a:ext cx="7378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FFFF"/>
                </a:solidFill>
                <a:latin typeface="Oswald"/>
                <a:ea typeface="Oswald"/>
                <a:cs typeface="Oswald"/>
                <a:sym typeface="Oswald"/>
              </a:rPr>
              <a:t>A Custom-instruction</a:t>
            </a:r>
            <a:endParaRPr sz="1500">
              <a:solidFill>
                <a:srgbClr val="FFFFFF"/>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1308150" y="342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Abstract of Acceleration Unit</a:t>
            </a:r>
            <a:endParaRPr b="1" u="sng">
              <a:solidFill>
                <a:srgbClr val="F1C232"/>
              </a:solidFill>
              <a:latin typeface="Oswald"/>
              <a:ea typeface="Oswald"/>
              <a:cs typeface="Oswald"/>
              <a:sym typeface="Oswald"/>
            </a:endParaRPr>
          </a:p>
        </p:txBody>
      </p:sp>
      <p:sp>
        <p:nvSpPr>
          <p:cNvPr id="63" name="Google Shape;63;p14"/>
          <p:cNvSpPr txBox="1"/>
          <p:nvPr>
            <p:ph idx="1" type="body"/>
          </p:nvPr>
        </p:nvSpPr>
        <p:spPr>
          <a:xfrm>
            <a:off x="886550" y="915175"/>
            <a:ext cx="7502700" cy="2968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700">
                <a:solidFill>
                  <a:schemeClr val="dk1"/>
                </a:solidFill>
              </a:rPr>
              <a:t>This project adds a new instruction “</a:t>
            </a:r>
            <a:r>
              <a:rPr b="1" lang="en" sz="1700">
                <a:solidFill>
                  <a:schemeClr val="dk1"/>
                </a:solidFill>
              </a:rPr>
              <a:t>sparse_mul”</a:t>
            </a:r>
            <a:r>
              <a:rPr lang="en" sz="1700">
                <a:solidFill>
                  <a:schemeClr val="dk1"/>
                </a:solidFill>
              </a:rPr>
              <a:t> to the RISC-V simulator to accelerate sparse–dense matrix multiplication. Most entries in a sparse matrix are zero, so multiplying them traditionally wastes time. The design introduces </a:t>
            </a:r>
            <a:r>
              <a:rPr b="1" lang="en" sz="1700">
                <a:solidFill>
                  <a:schemeClr val="dk1"/>
                </a:solidFill>
              </a:rPr>
              <a:t>metadata-based fetching</a:t>
            </a:r>
            <a:r>
              <a:rPr lang="en" sz="1700">
                <a:solidFill>
                  <a:schemeClr val="dk1"/>
                </a:solidFill>
              </a:rPr>
              <a:t> that allows the hardware to skip zeros and process only useful values. A </a:t>
            </a:r>
            <a:r>
              <a:rPr b="1" lang="en" sz="1700">
                <a:solidFill>
                  <a:schemeClr val="dk1"/>
                </a:solidFill>
              </a:rPr>
              <a:t>new SM-type instruction format</a:t>
            </a:r>
            <a:r>
              <a:rPr lang="en" sz="1700">
                <a:solidFill>
                  <a:schemeClr val="dk1"/>
                </a:solidFill>
              </a:rPr>
              <a:t>, along with a </a:t>
            </a:r>
            <a:r>
              <a:rPr b="1" lang="en" sz="1700">
                <a:solidFill>
                  <a:schemeClr val="dk1"/>
                </a:solidFill>
              </a:rPr>
              <a:t>four-stage pipelined datapath</a:t>
            </a:r>
            <a:r>
              <a:rPr lang="en" sz="1700">
                <a:solidFill>
                  <a:schemeClr val="dk1"/>
                </a:solidFill>
              </a:rPr>
              <a:t> and </a:t>
            </a:r>
            <a:r>
              <a:rPr b="1" lang="en" sz="1700">
                <a:solidFill>
                  <a:schemeClr val="dk1"/>
                </a:solidFill>
              </a:rPr>
              <a:t>compatibility checker</a:t>
            </a:r>
            <a:r>
              <a:rPr lang="en" sz="1700">
                <a:solidFill>
                  <a:schemeClr val="dk1"/>
                </a:solidFill>
              </a:rPr>
              <a:t>, enables efficient execution and significantly reduces computation cycles for large sparse matrices.</a:t>
            </a:r>
            <a:endParaRPr sz="2600">
              <a:solidFill>
                <a:srgbClr val="000000"/>
              </a:solidFill>
              <a:latin typeface="Lexend SemiBold"/>
              <a:ea typeface="Lexend SemiBold"/>
              <a:cs typeface="Lexend SemiBold"/>
              <a:sym typeface="Lexend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1308150" y="342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Instruction Encoding</a:t>
            </a:r>
            <a:endParaRPr b="1" u="sng">
              <a:solidFill>
                <a:srgbClr val="F1C232"/>
              </a:solidFill>
              <a:latin typeface="Oswald"/>
              <a:ea typeface="Oswald"/>
              <a:cs typeface="Oswald"/>
              <a:sym typeface="Oswald"/>
            </a:endParaRPr>
          </a:p>
        </p:txBody>
      </p:sp>
      <p:pic>
        <p:nvPicPr>
          <p:cNvPr id="69" name="Google Shape;69;p15" title="Screenshot from 2025-11-23 14-07-37.png"/>
          <p:cNvPicPr preferRelativeResize="0"/>
          <p:nvPr/>
        </p:nvPicPr>
        <p:blipFill rotWithShape="1">
          <a:blip r:embed="rId4">
            <a:alphaModFix/>
          </a:blip>
          <a:srcRect b="0" l="0" r="0" t="10650"/>
          <a:stretch/>
        </p:blipFill>
        <p:spPr>
          <a:xfrm>
            <a:off x="1308150" y="1025775"/>
            <a:ext cx="5936200" cy="3216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6"/>
          <p:cNvSpPr txBox="1"/>
          <p:nvPr>
            <p:ph type="title"/>
          </p:nvPr>
        </p:nvSpPr>
        <p:spPr>
          <a:xfrm>
            <a:off x="1308150" y="342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Choosing Optimal Algorithm</a:t>
            </a:r>
            <a:endParaRPr b="1" u="sng">
              <a:solidFill>
                <a:srgbClr val="F1C232"/>
              </a:solidFill>
              <a:latin typeface="Oswald"/>
              <a:ea typeface="Oswald"/>
              <a:cs typeface="Oswald"/>
              <a:sym typeface="Oswald"/>
            </a:endParaRPr>
          </a:p>
        </p:txBody>
      </p:sp>
      <p:sp>
        <p:nvSpPr>
          <p:cNvPr id="75" name="Google Shape;75;p16"/>
          <p:cNvSpPr txBox="1"/>
          <p:nvPr/>
        </p:nvSpPr>
        <p:spPr>
          <a:xfrm>
            <a:off x="1355750" y="915175"/>
            <a:ext cx="5396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t>There are many ways in which 2 matrices can be multiplied out of </a:t>
            </a:r>
            <a:r>
              <a:rPr lang="en" sz="1500"/>
              <a:t>which we choose the best algorithm where we can skip fetching zero elements and their computation to calculate efficiently. Hence row-row style is most appropriate.</a:t>
            </a:r>
            <a:endParaRPr sz="1500"/>
          </a:p>
        </p:txBody>
      </p:sp>
      <p:pic>
        <p:nvPicPr>
          <p:cNvPr id="76" name="Google Shape;76;p16" title="Screenshot from 2025-11-23 14-30-44.png"/>
          <p:cNvPicPr preferRelativeResize="0"/>
          <p:nvPr/>
        </p:nvPicPr>
        <p:blipFill>
          <a:blip r:embed="rId4">
            <a:alphaModFix/>
          </a:blip>
          <a:stretch>
            <a:fillRect/>
          </a:stretch>
        </p:blipFill>
        <p:spPr>
          <a:xfrm>
            <a:off x="1355738" y="2221450"/>
            <a:ext cx="5629615" cy="2534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Google Shape;81;p17"/>
          <p:cNvSpPr txBox="1"/>
          <p:nvPr>
            <p:ph type="title"/>
          </p:nvPr>
        </p:nvSpPr>
        <p:spPr>
          <a:xfrm>
            <a:off x="1308150" y="342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Meta-Data design of  a sparse matrix</a:t>
            </a:r>
            <a:endParaRPr b="1" u="sng">
              <a:solidFill>
                <a:srgbClr val="F1C232"/>
              </a:solidFill>
              <a:latin typeface="Oswald"/>
              <a:ea typeface="Oswald"/>
              <a:cs typeface="Oswald"/>
              <a:sym typeface="Oswald"/>
            </a:endParaRPr>
          </a:p>
        </p:txBody>
      </p:sp>
      <p:sp>
        <p:nvSpPr>
          <p:cNvPr id="82" name="Google Shape;82;p17"/>
          <p:cNvSpPr txBox="1"/>
          <p:nvPr/>
        </p:nvSpPr>
        <p:spPr>
          <a:xfrm>
            <a:off x="1279050" y="967275"/>
            <a:ext cx="5706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u="sng">
                <a:solidFill>
                  <a:srgbClr val="FF0000"/>
                </a:solidFill>
                <a:latin typeface="Oswald"/>
                <a:ea typeface="Oswald"/>
                <a:cs typeface="Oswald"/>
                <a:sym typeface="Oswald"/>
              </a:rPr>
              <a:t>Offset based meta-data:</a:t>
            </a:r>
            <a:endParaRPr b="1" sz="1700" u="sng">
              <a:solidFill>
                <a:srgbClr val="FF0000"/>
              </a:solidFill>
              <a:latin typeface="Oswald"/>
              <a:ea typeface="Oswald"/>
              <a:cs typeface="Oswald"/>
              <a:sym typeface="Oswald"/>
            </a:endParaRPr>
          </a:p>
        </p:txBody>
      </p:sp>
      <p:sp>
        <p:nvSpPr>
          <p:cNvPr id="83" name="Google Shape;83;p17"/>
          <p:cNvSpPr txBox="1"/>
          <p:nvPr/>
        </p:nvSpPr>
        <p:spPr>
          <a:xfrm>
            <a:off x="1279050" y="1302250"/>
            <a:ext cx="5706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Offset is the distance between 2 consecutive non-zero values in linear </a:t>
            </a:r>
            <a:r>
              <a:rPr b="1" lang="en" sz="1500">
                <a:solidFill>
                  <a:schemeClr val="dk2"/>
                </a:solidFill>
                <a:latin typeface="Lexend"/>
                <a:ea typeface="Lexend"/>
                <a:cs typeface="Lexend"/>
                <a:sym typeface="Lexend"/>
              </a:rPr>
              <a:t>representation of a matrix. E</a:t>
            </a:r>
            <a:r>
              <a:rPr b="1" lang="en" sz="1500">
                <a:solidFill>
                  <a:schemeClr val="dk2"/>
                </a:solidFill>
                <a:latin typeface="Lexend"/>
                <a:ea typeface="Lexend"/>
                <a:cs typeface="Lexend"/>
                <a:sym typeface="Lexend"/>
              </a:rPr>
              <a:t>ach Offset is a 32-bit unsigned integer. If the offset is forcing a row change then msb of the offset is set to 1.</a:t>
            </a:r>
            <a:endParaRPr b="1" sz="1500">
              <a:solidFill>
                <a:schemeClr val="dk2"/>
              </a:solidFill>
              <a:latin typeface="Lexend"/>
              <a:ea typeface="Lexend"/>
              <a:cs typeface="Lexend"/>
              <a:sym typeface="Lexend"/>
            </a:endParaRPr>
          </a:p>
        </p:txBody>
      </p:sp>
      <p:graphicFrame>
        <p:nvGraphicFramePr>
          <p:cNvPr id="84" name="Google Shape;84;p17"/>
          <p:cNvGraphicFramePr/>
          <p:nvPr/>
        </p:nvGraphicFramePr>
        <p:xfrm>
          <a:off x="1308150" y="2617925"/>
          <a:ext cx="3000000" cy="3000000"/>
        </p:xfrm>
        <a:graphic>
          <a:graphicData uri="http://schemas.openxmlformats.org/drawingml/2006/table">
            <a:tbl>
              <a:tblPr>
                <a:noFill/>
                <a:tableStyleId>{82A11FC9-1AA4-4741-A3D7-7AA27825AD36}</a:tableStyleId>
              </a:tblPr>
              <a:tblGrid>
                <a:gridCol w="711675"/>
                <a:gridCol w="662925"/>
                <a:gridCol w="743775"/>
              </a:tblGrid>
              <a:tr h="549975">
                <a:tc>
                  <a:txBody>
                    <a:bodyPr/>
                    <a:lstStyle/>
                    <a:p>
                      <a:pPr indent="0" lvl="0" marL="0" rtl="0" algn="ctr">
                        <a:spcBef>
                          <a:spcPts val="0"/>
                        </a:spcBef>
                        <a:spcAft>
                          <a:spcPts val="0"/>
                        </a:spcAft>
                        <a:buNone/>
                      </a:pPr>
                      <a:r>
                        <a:rPr lang="en" sz="1800"/>
                        <a:t>18</a:t>
                      </a:r>
                      <a:endParaRPr b="1" sz="1800"/>
                    </a:p>
                  </a:txBody>
                  <a:tcPr marT="91425" marB="91425" marR="91425" marL="91425"/>
                </a:tc>
                <a:tc>
                  <a:txBody>
                    <a:bodyPr/>
                    <a:lstStyle/>
                    <a:p>
                      <a:pPr indent="0" lvl="0" marL="0" rtl="0" algn="ctr">
                        <a:spcBef>
                          <a:spcPts val="0"/>
                        </a:spcBef>
                        <a:spcAft>
                          <a:spcPts val="0"/>
                        </a:spcAft>
                        <a:buNone/>
                      </a:pPr>
                      <a:r>
                        <a:rPr lang="en" sz="1800">
                          <a:solidFill>
                            <a:srgbClr val="F1C232"/>
                          </a:solidFill>
                        </a:rPr>
                        <a:t>0</a:t>
                      </a:r>
                      <a:endParaRPr sz="1800">
                        <a:solidFill>
                          <a:srgbClr val="F1C232"/>
                        </a:solidFill>
                      </a:endParaRPr>
                    </a:p>
                  </a:txBody>
                  <a:tcPr marT="91425" marB="91425" marR="91425" marL="91425"/>
                </a:tc>
                <a:tc>
                  <a:txBody>
                    <a:bodyPr/>
                    <a:lstStyle/>
                    <a:p>
                      <a:pPr indent="0" lvl="0" marL="0" rtl="0" algn="ctr">
                        <a:spcBef>
                          <a:spcPts val="0"/>
                        </a:spcBef>
                        <a:spcAft>
                          <a:spcPts val="0"/>
                        </a:spcAft>
                        <a:buNone/>
                      </a:pPr>
                      <a:r>
                        <a:rPr lang="en" sz="1800">
                          <a:solidFill>
                            <a:srgbClr val="FFD966"/>
                          </a:solidFill>
                        </a:rPr>
                        <a:t>0</a:t>
                      </a:r>
                      <a:endParaRPr sz="1800">
                        <a:solidFill>
                          <a:srgbClr val="FFD966"/>
                        </a:solidFill>
                      </a:endParaRPr>
                    </a:p>
                  </a:txBody>
                  <a:tcPr marT="91425" marB="91425" marR="91425" marL="91425"/>
                </a:tc>
              </a:tr>
              <a:tr h="549975">
                <a:tc>
                  <a:txBody>
                    <a:bodyPr/>
                    <a:lstStyle/>
                    <a:p>
                      <a:pPr indent="0" lvl="0" marL="0" rtl="0" algn="ctr">
                        <a:spcBef>
                          <a:spcPts val="0"/>
                        </a:spcBef>
                        <a:spcAft>
                          <a:spcPts val="0"/>
                        </a:spcAft>
                        <a:buNone/>
                      </a:pPr>
                      <a:r>
                        <a:rPr lang="en" sz="1900">
                          <a:solidFill>
                            <a:srgbClr val="FFD966"/>
                          </a:solidFill>
                        </a:rPr>
                        <a:t>0</a:t>
                      </a:r>
                      <a:endParaRPr sz="1900">
                        <a:solidFill>
                          <a:srgbClr val="FFD966"/>
                        </a:solidFill>
                      </a:endParaRPr>
                    </a:p>
                  </a:txBody>
                  <a:tcPr marT="91425" marB="91425" marR="91425" marL="91425"/>
                </a:tc>
                <a:tc>
                  <a:txBody>
                    <a:bodyPr/>
                    <a:lstStyle/>
                    <a:p>
                      <a:pPr indent="0" lvl="0" marL="0" rtl="0" algn="ctr">
                        <a:spcBef>
                          <a:spcPts val="0"/>
                        </a:spcBef>
                        <a:spcAft>
                          <a:spcPts val="0"/>
                        </a:spcAft>
                        <a:buNone/>
                      </a:pPr>
                      <a:r>
                        <a:rPr lang="en" sz="1800"/>
                        <a:t>12</a:t>
                      </a:r>
                      <a:endParaRPr sz="1800"/>
                    </a:p>
                  </a:txBody>
                  <a:tcPr marT="91425" marB="91425" marR="91425" marL="91425"/>
                </a:tc>
                <a:tc>
                  <a:txBody>
                    <a:bodyPr/>
                    <a:lstStyle/>
                    <a:p>
                      <a:pPr indent="0" lvl="0" marL="0" rtl="0" algn="ctr">
                        <a:spcBef>
                          <a:spcPts val="0"/>
                        </a:spcBef>
                        <a:spcAft>
                          <a:spcPts val="0"/>
                        </a:spcAft>
                        <a:buNone/>
                      </a:pPr>
                      <a:r>
                        <a:rPr lang="en" sz="1800"/>
                        <a:t>11</a:t>
                      </a:r>
                      <a:endParaRPr sz="1800"/>
                    </a:p>
                  </a:txBody>
                  <a:tcPr marT="91425" marB="91425" marR="91425" marL="91425"/>
                </a:tc>
              </a:tr>
              <a:tr h="549975">
                <a:tc>
                  <a:txBody>
                    <a:bodyPr/>
                    <a:lstStyle/>
                    <a:p>
                      <a:pPr indent="0" lvl="0" marL="0" rtl="0" algn="ctr">
                        <a:spcBef>
                          <a:spcPts val="0"/>
                        </a:spcBef>
                        <a:spcAft>
                          <a:spcPts val="0"/>
                        </a:spcAft>
                        <a:buNone/>
                      </a:pPr>
                      <a:r>
                        <a:rPr lang="en" sz="1800">
                          <a:solidFill>
                            <a:srgbClr val="F6B26B"/>
                          </a:solidFill>
                        </a:rPr>
                        <a:t>0</a:t>
                      </a:r>
                      <a:endParaRPr sz="1800">
                        <a:solidFill>
                          <a:srgbClr val="F6B26B"/>
                        </a:solidFill>
                      </a:endParaRPr>
                    </a:p>
                  </a:txBody>
                  <a:tcPr marT="91425" marB="91425" marR="91425" marL="91425"/>
                </a:tc>
                <a:tc>
                  <a:txBody>
                    <a:bodyPr/>
                    <a:lstStyle/>
                    <a:p>
                      <a:pPr indent="0" lvl="0" marL="0" rtl="0" algn="ctr">
                        <a:spcBef>
                          <a:spcPts val="0"/>
                        </a:spcBef>
                        <a:spcAft>
                          <a:spcPts val="0"/>
                        </a:spcAft>
                        <a:buNone/>
                      </a:pPr>
                      <a:r>
                        <a:rPr lang="en" sz="1800"/>
                        <a:t>39</a:t>
                      </a:r>
                      <a:endParaRPr sz="1800"/>
                    </a:p>
                  </a:txBody>
                  <a:tcPr marT="91425" marB="91425" marR="91425" marL="91425"/>
                </a:tc>
                <a:tc>
                  <a:txBody>
                    <a:bodyPr/>
                    <a:lstStyle/>
                    <a:p>
                      <a:pPr indent="0" lvl="0" marL="0" rtl="0" algn="ctr">
                        <a:spcBef>
                          <a:spcPts val="0"/>
                        </a:spcBef>
                        <a:spcAft>
                          <a:spcPts val="0"/>
                        </a:spcAft>
                        <a:buNone/>
                      </a:pPr>
                      <a:r>
                        <a:rPr lang="en" sz="1800">
                          <a:solidFill>
                            <a:srgbClr val="FFD966"/>
                          </a:solidFill>
                        </a:rPr>
                        <a:t>0</a:t>
                      </a:r>
                      <a:endParaRPr sz="1800">
                        <a:solidFill>
                          <a:srgbClr val="FFD966"/>
                        </a:solidFill>
                      </a:endParaRPr>
                    </a:p>
                  </a:txBody>
                  <a:tcPr marT="91425" marB="91425" marR="91425" marL="91425"/>
                </a:tc>
              </a:tr>
            </a:tbl>
          </a:graphicData>
        </a:graphic>
      </p:graphicFrame>
      <p:sp>
        <p:nvSpPr>
          <p:cNvPr id="85" name="Google Shape;85;p17"/>
          <p:cNvSpPr txBox="1"/>
          <p:nvPr/>
        </p:nvSpPr>
        <p:spPr>
          <a:xfrm>
            <a:off x="688200" y="4728000"/>
            <a:ext cx="5964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Note: </a:t>
            </a:r>
            <a:r>
              <a:rPr b="1" lang="en" sz="1500">
                <a:solidFill>
                  <a:schemeClr val="dk2"/>
                </a:solidFill>
                <a:latin typeface="Lexend"/>
                <a:ea typeface="Lexend"/>
                <a:cs typeface="Lexend"/>
                <a:sym typeface="Lexend"/>
              </a:rPr>
              <a:t>First element of a row is always fetched, why ?</a:t>
            </a:r>
            <a:endParaRPr b="1" sz="1500">
              <a:solidFill>
                <a:schemeClr val="dk2"/>
              </a:solidFill>
              <a:latin typeface="Lexend"/>
              <a:ea typeface="Lexend"/>
              <a:cs typeface="Lexend"/>
              <a:sym typeface="Lexend"/>
            </a:endParaRPr>
          </a:p>
        </p:txBody>
      </p:sp>
      <p:graphicFrame>
        <p:nvGraphicFramePr>
          <p:cNvPr id="86" name="Google Shape;86;p17"/>
          <p:cNvGraphicFramePr/>
          <p:nvPr/>
        </p:nvGraphicFramePr>
        <p:xfrm>
          <a:off x="3943350" y="3388900"/>
          <a:ext cx="3000000" cy="3000000"/>
        </p:xfrm>
        <a:graphic>
          <a:graphicData uri="http://schemas.openxmlformats.org/drawingml/2006/table">
            <a:tbl>
              <a:tblPr>
                <a:noFill/>
                <a:tableStyleId>{82A11FC9-1AA4-4741-A3D7-7AA27825AD36}</a:tableStyleId>
              </a:tblPr>
              <a:tblGrid>
                <a:gridCol w="507000"/>
                <a:gridCol w="507000"/>
                <a:gridCol w="507000"/>
                <a:gridCol w="507000"/>
                <a:gridCol w="507000"/>
                <a:gridCol w="507000"/>
              </a:tblGrid>
              <a:tr h="105675">
                <a:tc>
                  <a:txBody>
                    <a:bodyPr/>
                    <a:lstStyle/>
                    <a:p>
                      <a:pPr indent="0" lvl="0" marL="0" rtl="0" algn="ctr">
                        <a:spcBef>
                          <a:spcPts val="0"/>
                        </a:spcBef>
                        <a:spcAft>
                          <a:spcPts val="0"/>
                        </a:spcAft>
                        <a:buNone/>
                      </a:pPr>
                      <a:r>
                        <a:rPr lang="en" sz="1100"/>
                        <a:t>3</a:t>
                      </a:r>
                      <a:endParaRPr sz="1100"/>
                    </a:p>
                    <a:p>
                      <a:pPr indent="0" lvl="0" marL="0" rtl="0" algn="ctr">
                        <a:spcBef>
                          <a:spcPts val="0"/>
                        </a:spcBef>
                        <a:spcAft>
                          <a:spcPts val="0"/>
                        </a:spcAft>
                        <a:buNone/>
                      </a:pPr>
                      <a:r>
                        <a:rPr lang="en" sz="1100"/>
                        <a:t>MSB</a:t>
                      </a:r>
                      <a:endParaRPr sz="1100"/>
                    </a:p>
                  </a:txBody>
                  <a:tcPr marT="91425" marB="91425" marR="91425" marL="91425"/>
                </a:tc>
                <a:tc>
                  <a:txBody>
                    <a:bodyPr/>
                    <a:lstStyle/>
                    <a:p>
                      <a:pPr indent="0" lvl="0" marL="0" rtl="0" algn="ctr">
                        <a:spcBef>
                          <a:spcPts val="0"/>
                        </a:spcBef>
                        <a:spcAft>
                          <a:spcPts val="0"/>
                        </a:spcAft>
                        <a:buNone/>
                      </a:pPr>
                      <a:r>
                        <a:rPr lang="en" sz="1100"/>
                        <a:t>1</a:t>
                      </a:r>
                      <a:endParaRPr sz="1100"/>
                    </a:p>
                  </a:txBody>
                  <a:tcPr marT="91425" marB="91425" marR="91425" marL="91425"/>
                </a:tc>
                <a:tc>
                  <a:txBody>
                    <a:bodyPr/>
                    <a:lstStyle/>
                    <a:p>
                      <a:pPr indent="0" lvl="0" marL="0" rtl="0" algn="ctr">
                        <a:spcBef>
                          <a:spcPts val="0"/>
                        </a:spcBef>
                        <a:spcAft>
                          <a:spcPts val="0"/>
                        </a:spcAft>
                        <a:buNone/>
                      </a:pPr>
                      <a:r>
                        <a:rPr lang="en" sz="1100"/>
                        <a:t>1</a:t>
                      </a:r>
                      <a:endParaRPr sz="1100"/>
                    </a:p>
                  </a:txBody>
                  <a:tcPr marT="91425" marB="91425" marR="91425" marL="91425"/>
                </a:tc>
                <a:tc>
                  <a:txBody>
                    <a:bodyPr/>
                    <a:lstStyle/>
                    <a:p>
                      <a:pPr indent="0" lvl="0" marL="0" rtl="0" algn="ctr">
                        <a:spcBef>
                          <a:spcPts val="0"/>
                        </a:spcBef>
                        <a:spcAft>
                          <a:spcPts val="0"/>
                        </a:spcAft>
                        <a:buNone/>
                      </a:pPr>
                      <a:r>
                        <a:rPr lang="en" sz="1100"/>
                        <a:t>1</a:t>
                      </a:r>
                      <a:endParaRPr sz="1100"/>
                    </a:p>
                    <a:p>
                      <a:pPr indent="0" lvl="0" marL="0" rtl="0" algn="ctr">
                        <a:spcBef>
                          <a:spcPts val="0"/>
                        </a:spcBef>
                        <a:spcAft>
                          <a:spcPts val="0"/>
                        </a:spcAft>
                        <a:buNone/>
                      </a:pPr>
                      <a:r>
                        <a:rPr lang="en" sz="1100"/>
                        <a:t>MSB</a:t>
                      </a:r>
                      <a:endParaRPr sz="1100"/>
                    </a:p>
                  </a:txBody>
                  <a:tcPr marT="91425" marB="91425" marR="91425" marL="91425"/>
                </a:tc>
                <a:tc>
                  <a:txBody>
                    <a:bodyPr/>
                    <a:lstStyle/>
                    <a:p>
                      <a:pPr indent="0" lvl="0" marL="0" rtl="0" algn="ctr">
                        <a:spcBef>
                          <a:spcPts val="0"/>
                        </a:spcBef>
                        <a:spcAft>
                          <a:spcPts val="0"/>
                        </a:spcAft>
                        <a:buNone/>
                      </a:pPr>
                      <a:r>
                        <a:rPr lang="en" sz="1100"/>
                        <a:t>1</a:t>
                      </a:r>
                      <a:endParaRPr sz="1100"/>
                    </a:p>
                  </a:txBody>
                  <a:tcPr marT="91425" marB="91425" marR="91425" marL="91425"/>
                </a:tc>
                <a:tc>
                  <a:txBody>
                    <a:bodyPr/>
                    <a:lstStyle/>
                    <a:p>
                      <a:pPr indent="0" lvl="0" marL="0" rtl="0" algn="ctr">
                        <a:spcBef>
                          <a:spcPts val="0"/>
                        </a:spcBef>
                        <a:spcAft>
                          <a:spcPts val="0"/>
                        </a:spcAft>
                        <a:buNone/>
                      </a:pPr>
                      <a:r>
                        <a:rPr lang="en" sz="1000"/>
                        <a:t>2</a:t>
                      </a:r>
                      <a:endParaRPr sz="1000"/>
                    </a:p>
                    <a:p>
                      <a:pPr indent="0" lvl="0" marL="0" rtl="0" algn="ctr">
                        <a:spcBef>
                          <a:spcPts val="0"/>
                        </a:spcBef>
                        <a:spcAft>
                          <a:spcPts val="0"/>
                        </a:spcAft>
                        <a:buNone/>
                      </a:pPr>
                      <a:r>
                        <a:rPr lang="en" sz="1000"/>
                        <a:t>MSB</a:t>
                      </a:r>
                      <a:endParaRPr sz="1000"/>
                    </a:p>
                  </a:txBody>
                  <a:tcPr marT="91425" marB="91425" marR="91425" marL="91425"/>
                </a:tc>
              </a:tr>
            </a:tbl>
          </a:graphicData>
        </a:graphic>
      </p:graphicFrame>
      <p:sp>
        <p:nvSpPr>
          <p:cNvPr id="87" name="Google Shape;87;p17"/>
          <p:cNvSpPr txBox="1"/>
          <p:nvPr/>
        </p:nvSpPr>
        <p:spPr>
          <a:xfrm>
            <a:off x="1581938" y="4290175"/>
            <a:ext cx="1570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Sparse Matrix</a:t>
            </a:r>
            <a:endParaRPr b="1" sz="1500">
              <a:solidFill>
                <a:schemeClr val="dk2"/>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18"/>
          <p:cNvSpPr txBox="1"/>
          <p:nvPr>
            <p:ph type="title"/>
          </p:nvPr>
        </p:nvSpPr>
        <p:spPr>
          <a:xfrm>
            <a:off x="13528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Data-Path</a:t>
            </a:r>
            <a:endParaRPr b="1" u="sng">
              <a:solidFill>
                <a:srgbClr val="F1C232"/>
              </a:solidFill>
              <a:latin typeface="Oswald"/>
              <a:ea typeface="Oswald"/>
              <a:cs typeface="Oswald"/>
              <a:sym typeface="Oswald"/>
            </a:endParaRPr>
          </a:p>
        </p:txBody>
      </p:sp>
      <p:sp>
        <p:nvSpPr>
          <p:cNvPr id="93" name="Google Shape;93;p18"/>
          <p:cNvSpPr txBox="1"/>
          <p:nvPr/>
        </p:nvSpPr>
        <p:spPr>
          <a:xfrm>
            <a:off x="1383225" y="915175"/>
            <a:ext cx="619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The main datapath is for handling non matrix </a:t>
            </a:r>
            <a:r>
              <a:rPr b="1" lang="en" sz="1500">
                <a:solidFill>
                  <a:schemeClr val="dk2"/>
                </a:solidFill>
                <a:latin typeface="Lexend"/>
                <a:ea typeface="Lexend"/>
                <a:cs typeface="Lexend"/>
                <a:sym typeface="Lexend"/>
              </a:rPr>
              <a:t>instructions</a:t>
            </a:r>
            <a:r>
              <a:rPr b="1" lang="en" sz="1500">
                <a:solidFill>
                  <a:schemeClr val="dk2"/>
                </a:solidFill>
                <a:latin typeface="Lexend"/>
                <a:ea typeface="Lexend"/>
                <a:cs typeface="Lexend"/>
                <a:sym typeface="Lexend"/>
              </a:rPr>
              <a:t> which is a </a:t>
            </a:r>
            <a:r>
              <a:rPr b="1" lang="en" sz="1500">
                <a:solidFill>
                  <a:schemeClr val="dk2"/>
                </a:solidFill>
                <a:latin typeface="Lexend"/>
                <a:ea typeface="Lexend"/>
                <a:cs typeface="Lexend"/>
                <a:sym typeface="Lexend"/>
              </a:rPr>
              <a:t>single</a:t>
            </a:r>
            <a:r>
              <a:rPr b="1" lang="en" sz="1500">
                <a:solidFill>
                  <a:schemeClr val="dk2"/>
                </a:solidFill>
                <a:latin typeface="Lexend"/>
                <a:ea typeface="Lexend"/>
                <a:cs typeface="Lexend"/>
                <a:sym typeface="Lexend"/>
              </a:rPr>
              <a:t> stage processor.</a:t>
            </a:r>
            <a:endParaRPr b="1" sz="1500">
              <a:solidFill>
                <a:schemeClr val="dk2"/>
              </a:solidFill>
              <a:latin typeface="Lexend"/>
              <a:ea typeface="Lexend"/>
              <a:cs typeface="Lexend"/>
              <a:sym typeface="Lexend"/>
            </a:endParaRPr>
          </a:p>
        </p:txBody>
      </p:sp>
      <p:sp>
        <p:nvSpPr>
          <p:cNvPr id="94" name="Google Shape;94;p18"/>
          <p:cNvSpPr txBox="1"/>
          <p:nvPr/>
        </p:nvSpPr>
        <p:spPr>
          <a:xfrm>
            <a:off x="688200" y="4728000"/>
            <a:ext cx="5964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solidFill>
                <a:schemeClr val="dk2"/>
              </a:solidFill>
              <a:latin typeface="Lexend"/>
              <a:ea typeface="Lexend"/>
              <a:cs typeface="Lexend"/>
              <a:sym typeface="Lexend"/>
            </a:endParaRPr>
          </a:p>
        </p:txBody>
      </p:sp>
      <p:sp>
        <p:nvSpPr>
          <p:cNvPr id="95" name="Google Shape;95;p18"/>
          <p:cNvSpPr txBox="1"/>
          <p:nvPr/>
        </p:nvSpPr>
        <p:spPr>
          <a:xfrm>
            <a:off x="1581938" y="4290175"/>
            <a:ext cx="1570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solidFill>
                <a:schemeClr val="dk2"/>
              </a:solidFill>
              <a:latin typeface="Lexend"/>
              <a:ea typeface="Lexend"/>
              <a:cs typeface="Lexend"/>
              <a:sym typeface="Lexend"/>
            </a:endParaRPr>
          </a:p>
        </p:txBody>
      </p:sp>
      <p:graphicFrame>
        <p:nvGraphicFramePr>
          <p:cNvPr id="96" name="Google Shape;96;p18"/>
          <p:cNvGraphicFramePr/>
          <p:nvPr/>
        </p:nvGraphicFramePr>
        <p:xfrm>
          <a:off x="2483900" y="1644550"/>
          <a:ext cx="3000000" cy="3000000"/>
        </p:xfrm>
        <a:graphic>
          <a:graphicData uri="http://schemas.openxmlformats.org/drawingml/2006/table">
            <a:tbl>
              <a:tblPr>
                <a:noFill/>
                <a:tableStyleId>{82A11FC9-1AA4-4741-A3D7-7AA27825AD36}</a:tableStyleId>
              </a:tblPr>
              <a:tblGrid>
                <a:gridCol w="947725"/>
                <a:gridCol w="947725"/>
                <a:gridCol w="947725"/>
                <a:gridCol w="947725"/>
                <a:gridCol w="947725"/>
              </a:tblGrid>
              <a:tr h="127975">
                <a:tc>
                  <a:txBody>
                    <a:bodyPr/>
                    <a:lstStyle/>
                    <a:p>
                      <a:pPr indent="0" lvl="0" marL="0" rtl="0" algn="ctr">
                        <a:spcBef>
                          <a:spcPts val="0"/>
                        </a:spcBef>
                        <a:spcAft>
                          <a:spcPts val="0"/>
                        </a:spcAft>
                        <a:buNone/>
                      </a:pPr>
                      <a:r>
                        <a:rPr b="1" lang="en"/>
                        <a:t>IF</a:t>
                      </a:r>
                      <a:endParaRPr b="1"/>
                    </a:p>
                  </a:txBody>
                  <a:tcPr marT="91425" marB="91425" marR="91425" marL="91425"/>
                </a:tc>
                <a:tc>
                  <a:txBody>
                    <a:bodyPr/>
                    <a:lstStyle/>
                    <a:p>
                      <a:pPr indent="0" lvl="0" marL="0" rtl="0" algn="ctr">
                        <a:spcBef>
                          <a:spcPts val="0"/>
                        </a:spcBef>
                        <a:spcAft>
                          <a:spcPts val="0"/>
                        </a:spcAft>
                        <a:buNone/>
                      </a:pPr>
                      <a:r>
                        <a:rPr b="1" lang="en"/>
                        <a:t>ID</a:t>
                      </a:r>
                      <a:endParaRPr b="1"/>
                    </a:p>
                  </a:txBody>
                  <a:tcPr marT="91425" marB="91425" marR="91425" marL="91425"/>
                </a:tc>
                <a:tc>
                  <a:txBody>
                    <a:bodyPr/>
                    <a:lstStyle/>
                    <a:p>
                      <a:pPr indent="0" lvl="0" marL="0" rtl="0" algn="ctr">
                        <a:spcBef>
                          <a:spcPts val="0"/>
                        </a:spcBef>
                        <a:spcAft>
                          <a:spcPts val="0"/>
                        </a:spcAft>
                        <a:buNone/>
                      </a:pPr>
                      <a:r>
                        <a:rPr b="1" lang="en"/>
                        <a:t>EX</a:t>
                      </a:r>
                      <a:endParaRPr b="1"/>
                    </a:p>
                  </a:txBody>
                  <a:tcPr marT="91425" marB="91425" marR="91425" marL="91425"/>
                </a:tc>
                <a:tc>
                  <a:txBody>
                    <a:bodyPr/>
                    <a:lstStyle/>
                    <a:p>
                      <a:pPr indent="0" lvl="0" marL="0" rtl="0" algn="ctr">
                        <a:spcBef>
                          <a:spcPts val="0"/>
                        </a:spcBef>
                        <a:spcAft>
                          <a:spcPts val="0"/>
                        </a:spcAft>
                        <a:buNone/>
                      </a:pPr>
                      <a:r>
                        <a:rPr b="1" lang="en"/>
                        <a:t>MEM</a:t>
                      </a:r>
                      <a:endParaRPr b="1"/>
                    </a:p>
                  </a:txBody>
                  <a:tcPr marT="91425" marB="91425" marR="91425" marL="91425"/>
                </a:tc>
                <a:tc>
                  <a:txBody>
                    <a:bodyPr/>
                    <a:lstStyle/>
                    <a:p>
                      <a:pPr indent="0" lvl="0" marL="0" rtl="0" algn="ctr">
                        <a:spcBef>
                          <a:spcPts val="0"/>
                        </a:spcBef>
                        <a:spcAft>
                          <a:spcPts val="0"/>
                        </a:spcAft>
                        <a:buNone/>
                      </a:pPr>
                      <a:r>
                        <a:rPr b="1" lang="en"/>
                        <a:t>WB</a:t>
                      </a:r>
                      <a:endParaRPr b="1"/>
                    </a:p>
                  </a:txBody>
                  <a:tcPr marT="91425" marB="91425" marR="91425" marL="91425"/>
                </a:tc>
              </a:tr>
            </a:tbl>
          </a:graphicData>
        </a:graphic>
      </p:graphicFrame>
      <p:sp>
        <p:nvSpPr>
          <p:cNvPr id="97" name="Google Shape;97;p18"/>
          <p:cNvSpPr txBox="1"/>
          <p:nvPr/>
        </p:nvSpPr>
        <p:spPr>
          <a:xfrm>
            <a:off x="1285825" y="1519400"/>
            <a:ext cx="1149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Main Datapath</a:t>
            </a:r>
            <a:endParaRPr b="1" sz="1500">
              <a:solidFill>
                <a:schemeClr val="dk2"/>
              </a:solidFill>
              <a:latin typeface="Lexend"/>
              <a:ea typeface="Lexend"/>
              <a:cs typeface="Lexend"/>
              <a:sym typeface="Lexend"/>
            </a:endParaRPr>
          </a:p>
        </p:txBody>
      </p:sp>
      <p:sp>
        <p:nvSpPr>
          <p:cNvPr id="98" name="Google Shape;98;p18"/>
          <p:cNvSpPr/>
          <p:nvPr/>
        </p:nvSpPr>
        <p:spPr>
          <a:xfrm>
            <a:off x="3795125" y="1994300"/>
            <a:ext cx="201000" cy="577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8"/>
          <p:cNvSpPr txBox="1"/>
          <p:nvPr/>
        </p:nvSpPr>
        <p:spPr>
          <a:xfrm>
            <a:off x="4137125" y="2123625"/>
            <a:ext cx="305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2"/>
                </a:solidFill>
                <a:latin typeface="Lexend"/>
                <a:ea typeface="Lexend"/>
                <a:cs typeface="Lexend"/>
                <a:sym typeface="Lexend"/>
              </a:rPr>
              <a:t>If sparse_mul </a:t>
            </a:r>
            <a:r>
              <a:rPr b="1" lang="en" sz="1000">
                <a:solidFill>
                  <a:schemeClr val="dk2"/>
                </a:solidFill>
                <a:latin typeface="Lexend"/>
                <a:ea typeface="Lexend"/>
                <a:cs typeface="Lexend"/>
                <a:sym typeface="Lexend"/>
              </a:rPr>
              <a:t>instruction is decoded.</a:t>
            </a:r>
            <a:endParaRPr b="1" sz="1000">
              <a:solidFill>
                <a:schemeClr val="dk2"/>
              </a:solidFill>
              <a:latin typeface="Lexend"/>
              <a:ea typeface="Lexend"/>
              <a:cs typeface="Lexend"/>
              <a:sym typeface="Lexend"/>
            </a:endParaRPr>
          </a:p>
        </p:txBody>
      </p:sp>
      <p:graphicFrame>
        <p:nvGraphicFramePr>
          <p:cNvPr id="100" name="Google Shape;100;p18"/>
          <p:cNvGraphicFramePr/>
          <p:nvPr/>
        </p:nvGraphicFramePr>
        <p:xfrm>
          <a:off x="3202375" y="2545188"/>
          <a:ext cx="3000000" cy="3000000"/>
        </p:xfrm>
        <a:graphic>
          <a:graphicData uri="http://schemas.openxmlformats.org/drawingml/2006/table">
            <a:tbl>
              <a:tblPr>
                <a:noFill/>
                <a:tableStyleId>{82A11FC9-1AA4-4741-A3D7-7AA27825AD36}</a:tableStyleId>
              </a:tblPr>
              <a:tblGrid>
                <a:gridCol w="1386475"/>
              </a:tblGrid>
              <a:tr h="338700">
                <a:tc>
                  <a:txBody>
                    <a:bodyPr/>
                    <a:lstStyle/>
                    <a:p>
                      <a:pPr indent="0" lvl="0" marL="0" rtl="0" algn="l">
                        <a:spcBef>
                          <a:spcPts val="0"/>
                        </a:spcBef>
                        <a:spcAft>
                          <a:spcPts val="0"/>
                        </a:spcAft>
                        <a:buNone/>
                      </a:pPr>
                      <a:r>
                        <a:rPr lang="en" sz="1000"/>
                        <a:t>Matrix Validation Unit</a:t>
                      </a:r>
                      <a:endParaRPr sz="400"/>
                    </a:p>
                  </a:txBody>
                  <a:tcPr marT="91425" marB="91425" marR="91425" marL="91425"/>
                </a:tc>
              </a:tr>
            </a:tbl>
          </a:graphicData>
        </a:graphic>
      </p:graphicFrame>
      <p:sp>
        <p:nvSpPr>
          <p:cNvPr id="101" name="Google Shape;101;p18"/>
          <p:cNvSpPr/>
          <p:nvPr/>
        </p:nvSpPr>
        <p:spPr>
          <a:xfrm>
            <a:off x="3296550" y="2864950"/>
            <a:ext cx="201000" cy="483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8"/>
          <p:cNvSpPr txBox="1"/>
          <p:nvPr/>
        </p:nvSpPr>
        <p:spPr>
          <a:xfrm>
            <a:off x="2243125" y="2883900"/>
            <a:ext cx="100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latin typeface="Lexend"/>
                <a:ea typeface="Lexend"/>
                <a:cs typeface="Lexend"/>
                <a:sym typeface="Lexend"/>
              </a:rPr>
              <a:t>If Valid</a:t>
            </a:r>
            <a:endParaRPr b="1" sz="1200">
              <a:solidFill>
                <a:schemeClr val="dk2"/>
              </a:solidFill>
              <a:latin typeface="Lexend"/>
              <a:ea typeface="Lexend"/>
              <a:cs typeface="Lexend"/>
              <a:sym typeface="Lexend"/>
            </a:endParaRPr>
          </a:p>
        </p:txBody>
      </p:sp>
      <p:graphicFrame>
        <p:nvGraphicFramePr>
          <p:cNvPr id="103" name="Google Shape;103;p18"/>
          <p:cNvGraphicFramePr/>
          <p:nvPr/>
        </p:nvGraphicFramePr>
        <p:xfrm>
          <a:off x="2228975" y="3451800"/>
          <a:ext cx="3000000" cy="3000000"/>
        </p:xfrm>
        <a:graphic>
          <a:graphicData uri="http://schemas.openxmlformats.org/drawingml/2006/table">
            <a:tbl>
              <a:tblPr>
                <a:noFill/>
                <a:tableStyleId>{82A11FC9-1AA4-4741-A3D7-7AA27825AD36}</a:tableStyleId>
              </a:tblPr>
              <a:tblGrid>
                <a:gridCol w="1048875"/>
                <a:gridCol w="1048875"/>
                <a:gridCol w="1048875"/>
                <a:gridCol w="1048875"/>
              </a:tblGrid>
              <a:tr h="381000">
                <a:tc>
                  <a:txBody>
                    <a:bodyPr/>
                    <a:lstStyle/>
                    <a:p>
                      <a:pPr indent="0" lvl="0" marL="0" rtl="0" algn="ctr">
                        <a:spcBef>
                          <a:spcPts val="0"/>
                        </a:spcBef>
                        <a:spcAft>
                          <a:spcPts val="0"/>
                        </a:spcAft>
                        <a:buNone/>
                      </a:pPr>
                      <a:r>
                        <a:rPr b="1" lang="en"/>
                        <a:t>OF</a:t>
                      </a:r>
                      <a:endParaRPr b="1"/>
                    </a:p>
                  </a:txBody>
                  <a:tcPr marT="91425" marB="91425" marR="91425" marL="91425"/>
                </a:tc>
                <a:tc>
                  <a:txBody>
                    <a:bodyPr/>
                    <a:lstStyle/>
                    <a:p>
                      <a:pPr indent="0" lvl="0" marL="0" rtl="0" algn="ctr">
                        <a:spcBef>
                          <a:spcPts val="0"/>
                        </a:spcBef>
                        <a:spcAft>
                          <a:spcPts val="0"/>
                        </a:spcAft>
                        <a:buNone/>
                      </a:pPr>
                      <a:r>
                        <a:rPr b="1" lang="en"/>
                        <a:t>VF</a:t>
                      </a:r>
                      <a:endParaRPr b="1"/>
                    </a:p>
                  </a:txBody>
                  <a:tcPr marT="91425" marB="91425" marR="91425" marL="91425"/>
                </a:tc>
                <a:tc>
                  <a:txBody>
                    <a:bodyPr/>
                    <a:lstStyle/>
                    <a:p>
                      <a:pPr indent="0" lvl="0" marL="0" rtl="0" algn="ctr">
                        <a:spcBef>
                          <a:spcPts val="0"/>
                        </a:spcBef>
                        <a:spcAft>
                          <a:spcPts val="0"/>
                        </a:spcAft>
                        <a:buNone/>
                      </a:pPr>
                      <a:r>
                        <a:rPr b="1" lang="en"/>
                        <a:t>SV</a:t>
                      </a:r>
                      <a:endParaRPr b="1"/>
                    </a:p>
                  </a:txBody>
                  <a:tcPr marT="91425" marB="91425" marR="91425" marL="91425"/>
                </a:tc>
                <a:tc>
                  <a:txBody>
                    <a:bodyPr/>
                    <a:lstStyle/>
                    <a:p>
                      <a:pPr indent="0" lvl="0" marL="0" rtl="0" algn="ctr">
                        <a:spcBef>
                          <a:spcPts val="0"/>
                        </a:spcBef>
                        <a:spcAft>
                          <a:spcPts val="0"/>
                        </a:spcAft>
                        <a:buNone/>
                      </a:pPr>
                      <a:r>
                        <a:rPr b="1" lang="en"/>
                        <a:t>ACC</a:t>
                      </a:r>
                      <a:endParaRPr b="1"/>
                    </a:p>
                  </a:txBody>
                  <a:tcPr marT="91425" marB="91425" marR="91425" marL="91425" anchor="ctr"/>
                </a:tc>
              </a:tr>
            </a:tbl>
          </a:graphicData>
        </a:graphic>
      </p:graphicFrame>
      <p:sp>
        <p:nvSpPr>
          <p:cNvPr id="104" name="Google Shape;104;p18"/>
          <p:cNvSpPr txBox="1"/>
          <p:nvPr/>
        </p:nvSpPr>
        <p:spPr>
          <a:xfrm>
            <a:off x="857900" y="3372850"/>
            <a:ext cx="1106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latin typeface="Lexend"/>
                <a:ea typeface="Lexend"/>
                <a:cs typeface="Lexend"/>
                <a:sym typeface="Lexend"/>
              </a:rPr>
              <a:t>4-stage Pipeline</a:t>
            </a:r>
            <a:endParaRPr b="1" sz="1200">
              <a:solidFill>
                <a:schemeClr val="dk2"/>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p19"/>
          <p:cNvSpPr txBox="1"/>
          <p:nvPr>
            <p:ph type="title"/>
          </p:nvPr>
        </p:nvSpPr>
        <p:spPr>
          <a:xfrm>
            <a:off x="13528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More about pipeline….</a:t>
            </a:r>
            <a:endParaRPr b="1" u="sng">
              <a:solidFill>
                <a:srgbClr val="F1C232"/>
              </a:solidFill>
              <a:latin typeface="Oswald"/>
              <a:ea typeface="Oswald"/>
              <a:cs typeface="Oswald"/>
              <a:sym typeface="Oswald"/>
            </a:endParaRPr>
          </a:p>
        </p:txBody>
      </p:sp>
      <p:sp>
        <p:nvSpPr>
          <p:cNvPr id="110" name="Google Shape;110;p19"/>
          <p:cNvSpPr txBox="1"/>
          <p:nvPr/>
        </p:nvSpPr>
        <p:spPr>
          <a:xfrm>
            <a:off x="1352800" y="907725"/>
            <a:ext cx="619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This Pipeline has </a:t>
            </a:r>
            <a:r>
              <a:rPr b="1" lang="en" sz="1500">
                <a:solidFill>
                  <a:schemeClr val="dk2"/>
                </a:solidFill>
                <a:latin typeface="Lexend"/>
                <a:ea typeface="Lexend"/>
                <a:cs typeface="Lexend"/>
                <a:sym typeface="Lexend"/>
              </a:rPr>
              <a:t>separate</a:t>
            </a:r>
            <a:r>
              <a:rPr b="1" lang="en" sz="1500">
                <a:solidFill>
                  <a:schemeClr val="dk2"/>
                </a:solidFill>
                <a:latin typeface="Lexend"/>
                <a:ea typeface="Lexend"/>
                <a:cs typeface="Lexend"/>
                <a:sym typeface="Lexend"/>
              </a:rPr>
              <a:t> clock as time </a:t>
            </a:r>
            <a:r>
              <a:rPr b="1" lang="en" sz="1500">
                <a:solidFill>
                  <a:schemeClr val="dk2"/>
                </a:solidFill>
                <a:latin typeface="Lexend"/>
                <a:ea typeface="Lexend"/>
                <a:cs typeface="Lexend"/>
                <a:sym typeface="Lexend"/>
              </a:rPr>
              <a:t>taken by </a:t>
            </a:r>
            <a:r>
              <a:rPr b="1" lang="en" sz="1500">
                <a:solidFill>
                  <a:schemeClr val="dk2"/>
                </a:solidFill>
                <a:latin typeface="Lexend"/>
                <a:ea typeface="Lexend"/>
                <a:cs typeface="Lexend"/>
                <a:sym typeface="Lexend"/>
              </a:rPr>
              <a:t>slowest instruction and time taken by slowest </a:t>
            </a:r>
            <a:r>
              <a:rPr b="1" lang="en" sz="1500">
                <a:solidFill>
                  <a:schemeClr val="dk2"/>
                </a:solidFill>
                <a:latin typeface="Lexend"/>
                <a:ea typeface="Lexend"/>
                <a:cs typeface="Lexend"/>
                <a:sym typeface="Lexend"/>
              </a:rPr>
              <a:t>stage aren’t same.</a:t>
            </a:r>
            <a:endParaRPr b="1" sz="1500">
              <a:solidFill>
                <a:schemeClr val="dk2"/>
              </a:solidFill>
              <a:latin typeface="Lexend"/>
              <a:ea typeface="Lexend"/>
              <a:cs typeface="Lexend"/>
              <a:sym typeface="Lexend"/>
            </a:endParaRPr>
          </a:p>
        </p:txBody>
      </p:sp>
      <p:sp>
        <p:nvSpPr>
          <p:cNvPr id="111" name="Google Shape;111;p19"/>
          <p:cNvSpPr txBox="1"/>
          <p:nvPr/>
        </p:nvSpPr>
        <p:spPr>
          <a:xfrm>
            <a:off x="1480850" y="1927325"/>
            <a:ext cx="342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2" name="Google Shape;112;p19"/>
          <p:cNvSpPr txBox="1"/>
          <p:nvPr/>
        </p:nvSpPr>
        <p:spPr>
          <a:xfrm>
            <a:off x="1397850" y="1554225"/>
            <a:ext cx="61995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In a pipelined processor, instructions are executed parallely, In sparse_mul pipeline, we define something called work unit which gets executed parallely.</a:t>
            </a:r>
            <a:endParaRPr b="1" sz="1500">
              <a:solidFill>
                <a:schemeClr val="dk2"/>
              </a:solidFill>
              <a:latin typeface="Lexend"/>
              <a:ea typeface="Lexend"/>
              <a:cs typeface="Lexend"/>
              <a:sym typeface="Lexend"/>
            </a:endParaRPr>
          </a:p>
        </p:txBody>
      </p:sp>
      <p:sp>
        <p:nvSpPr>
          <p:cNvPr id="113" name="Google Shape;113;p19"/>
          <p:cNvSpPr txBox="1"/>
          <p:nvPr/>
        </p:nvSpPr>
        <p:spPr>
          <a:xfrm>
            <a:off x="2656575" y="3028650"/>
            <a:ext cx="342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4" name="Google Shape;114;p19"/>
          <p:cNvSpPr txBox="1"/>
          <p:nvPr/>
        </p:nvSpPr>
        <p:spPr>
          <a:xfrm>
            <a:off x="1443625" y="2427213"/>
            <a:ext cx="5521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solidFill>
                <a:schemeClr val="dk2"/>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20"/>
          <p:cNvSpPr txBox="1"/>
          <p:nvPr>
            <p:ph type="title"/>
          </p:nvPr>
        </p:nvSpPr>
        <p:spPr>
          <a:xfrm>
            <a:off x="13528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Work Unit</a:t>
            </a:r>
            <a:endParaRPr b="1" u="sng">
              <a:solidFill>
                <a:srgbClr val="F1C232"/>
              </a:solidFill>
              <a:latin typeface="Oswald"/>
              <a:ea typeface="Oswald"/>
              <a:cs typeface="Oswald"/>
              <a:sym typeface="Oswald"/>
            </a:endParaRPr>
          </a:p>
        </p:txBody>
      </p:sp>
      <p:sp>
        <p:nvSpPr>
          <p:cNvPr id="120" name="Google Shape;120;p20"/>
          <p:cNvSpPr txBox="1"/>
          <p:nvPr/>
        </p:nvSpPr>
        <p:spPr>
          <a:xfrm>
            <a:off x="2656575" y="3028650"/>
            <a:ext cx="342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21" name="Google Shape;121;p20"/>
          <p:cNvSpPr txBox="1"/>
          <p:nvPr/>
        </p:nvSpPr>
        <p:spPr>
          <a:xfrm>
            <a:off x="1294800" y="1488150"/>
            <a:ext cx="57372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Work Unit : </a:t>
            </a:r>
            <a:endParaRPr b="1" sz="1500">
              <a:solidFill>
                <a:schemeClr val="dk2"/>
              </a:solidFill>
              <a:latin typeface="Lexend"/>
              <a:ea typeface="Lexend"/>
              <a:cs typeface="Lexend"/>
              <a:sym typeface="Lexend"/>
            </a:endParaRPr>
          </a:p>
          <a:p>
            <a:pPr indent="0" lvl="0" marL="0" rtl="0" algn="l">
              <a:spcBef>
                <a:spcPts val="0"/>
              </a:spcBef>
              <a:spcAft>
                <a:spcPts val="0"/>
              </a:spcAft>
              <a:buNone/>
            </a:pPr>
            <a:r>
              <a:rPr b="1" lang="en" sz="1500">
                <a:solidFill>
                  <a:schemeClr val="dk2"/>
                </a:solidFill>
                <a:latin typeface="Lexend"/>
                <a:ea typeface="Lexend"/>
                <a:cs typeface="Lexend"/>
                <a:sym typeface="Lexend"/>
              </a:rPr>
              <a:t>A work unit is the entire process of fetching a non zero value in sparse-matrix, Let the column index</a:t>
            </a:r>
            <a:endParaRPr b="1" sz="1500">
              <a:solidFill>
                <a:schemeClr val="dk2"/>
              </a:solidFill>
              <a:latin typeface="Lexend"/>
              <a:ea typeface="Lexend"/>
              <a:cs typeface="Lexend"/>
              <a:sym typeface="Lexend"/>
            </a:endParaRPr>
          </a:p>
          <a:p>
            <a:pPr indent="0" lvl="0" marL="0" rtl="0" algn="l">
              <a:spcBef>
                <a:spcPts val="0"/>
              </a:spcBef>
              <a:spcAft>
                <a:spcPts val="0"/>
              </a:spcAft>
              <a:buNone/>
            </a:pPr>
            <a:r>
              <a:rPr b="1" lang="en" sz="1500">
                <a:solidFill>
                  <a:schemeClr val="dk2"/>
                </a:solidFill>
                <a:latin typeface="Lexend"/>
                <a:ea typeface="Lexend"/>
                <a:cs typeface="Lexend"/>
                <a:sym typeface="Lexend"/>
              </a:rPr>
              <a:t>of this value is ‘i’, Now fetch the row i of dense matrix. Multiply the scalar number with row i of dense matrix. Add this row to an accumulator, if the current element is last non-zero in its row then this accumulator is written to the output buffer. This entire process is denoted by 1 work unit. The 4-stage pipeline executes this parallely.</a:t>
            </a:r>
            <a:endParaRPr b="1" sz="1500">
              <a:solidFill>
                <a:schemeClr val="dk2"/>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p21"/>
          <p:cNvSpPr txBox="1"/>
          <p:nvPr>
            <p:ph type="title"/>
          </p:nvPr>
        </p:nvSpPr>
        <p:spPr>
          <a:xfrm>
            <a:off x="13528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Some Hardware inside Pipeline</a:t>
            </a:r>
            <a:endParaRPr b="1" u="sng">
              <a:solidFill>
                <a:srgbClr val="F1C232"/>
              </a:solidFill>
              <a:latin typeface="Oswald"/>
              <a:ea typeface="Oswald"/>
              <a:cs typeface="Oswald"/>
              <a:sym typeface="Oswald"/>
            </a:endParaRPr>
          </a:p>
        </p:txBody>
      </p:sp>
      <p:sp>
        <p:nvSpPr>
          <p:cNvPr id="127" name="Google Shape;127;p21"/>
          <p:cNvSpPr txBox="1"/>
          <p:nvPr/>
        </p:nvSpPr>
        <p:spPr>
          <a:xfrm>
            <a:off x="2656575" y="3028650"/>
            <a:ext cx="342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28" name="Google Shape;128;p21"/>
          <p:cNvSpPr txBox="1"/>
          <p:nvPr/>
        </p:nvSpPr>
        <p:spPr>
          <a:xfrm>
            <a:off x="1352800" y="1004475"/>
            <a:ext cx="57372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2"/>
                </a:solidFill>
                <a:latin typeface="Lexend"/>
                <a:ea typeface="Lexend"/>
                <a:cs typeface="Lexend"/>
                <a:sym typeface="Lexend"/>
              </a:rPr>
              <a:t>Storage Unit:</a:t>
            </a:r>
            <a:endParaRPr b="1" sz="2000">
              <a:solidFill>
                <a:schemeClr val="dk2"/>
              </a:solidFill>
              <a:latin typeface="Lexend"/>
              <a:ea typeface="Lexend"/>
              <a:cs typeface="Lexend"/>
              <a:sym typeface="Lexend"/>
            </a:endParaRPr>
          </a:p>
          <a:p>
            <a:pPr indent="0" lvl="0" marL="0" rtl="0" algn="l">
              <a:spcBef>
                <a:spcPts val="0"/>
              </a:spcBef>
              <a:spcAft>
                <a:spcPts val="0"/>
              </a:spcAft>
              <a:buNone/>
            </a:pPr>
            <a:r>
              <a:rPr b="1" lang="en" sz="1500">
                <a:solidFill>
                  <a:schemeClr val="dk2"/>
                </a:solidFill>
                <a:latin typeface="Lexend"/>
                <a:ea typeface="Lexend"/>
                <a:cs typeface="Lexend"/>
                <a:sym typeface="Lexend"/>
              </a:rPr>
              <a:t>It is similar to register file in a regular 5-stage pipelined processor. Here it stores values like Base Addresses, Number of rows and </a:t>
            </a:r>
            <a:r>
              <a:rPr b="1" lang="en" sz="1500">
                <a:solidFill>
                  <a:schemeClr val="dk2"/>
                </a:solidFill>
                <a:latin typeface="Lexend"/>
                <a:ea typeface="Lexend"/>
                <a:cs typeface="Lexend"/>
                <a:sym typeface="Lexend"/>
              </a:rPr>
              <a:t>columns</a:t>
            </a:r>
            <a:r>
              <a:rPr b="1" lang="en" sz="1500">
                <a:solidFill>
                  <a:schemeClr val="dk2"/>
                </a:solidFill>
                <a:latin typeface="Lexend"/>
                <a:ea typeface="Lexend"/>
                <a:cs typeface="Lexend"/>
                <a:sym typeface="Lexend"/>
              </a:rPr>
              <a:t>, Accumulator</a:t>
            </a:r>
            <a:endParaRPr b="1" sz="1500">
              <a:solidFill>
                <a:schemeClr val="dk2"/>
              </a:solidFill>
              <a:latin typeface="Lexend"/>
              <a:ea typeface="Lexend"/>
              <a:cs typeface="Lexend"/>
              <a:sym typeface="Lexend"/>
            </a:endParaRPr>
          </a:p>
        </p:txBody>
      </p:sp>
      <p:sp>
        <p:nvSpPr>
          <p:cNvPr id="129" name="Google Shape;129;p21"/>
          <p:cNvSpPr txBox="1"/>
          <p:nvPr/>
        </p:nvSpPr>
        <p:spPr>
          <a:xfrm>
            <a:off x="1410000" y="2189775"/>
            <a:ext cx="545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000">
              <a:solidFill>
                <a:schemeClr val="dk2"/>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 name="Shape 133"/>
        <p:cNvGrpSpPr/>
        <p:nvPr/>
      </p:nvGrpSpPr>
      <p:grpSpPr>
        <a:xfrm>
          <a:off x="0" y="0"/>
          <a:ext cx="0" cy="0"/>
          <a:chOff x="0" y="0"/>
          <a:chExt cx="0" cy="0"/>
        </a:xfrm>
      </p:grpSpPr>
      <p:sp>
        <p:nvSpPr>
          <p:cNvPr id="134" name="Google Shape;134;p22"/>
          <p:cNvSpPr txBox="1"/>
          <p:nvPr>
            <p:ph type="title"/>
          </p:nvPr>
        </p:nvSpPr>
        <p:spPr>
          <a:xfrm>
            <a:off x="13528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Some Hardware inside Pipeline</a:t>
            </a:r>
            <a:endParaRPr b="1" u="sng">
              <a:solidFill>
                <a:srgbClr val="F1C232"/>
              </a:solidFill>
              <a:latin typeface="Oswald"/>
              <a:ea typeface="Oswald"/>
              <a:cs typeface="Oswald"/>
              <a:sym typeface="Oswald"/>
            </a:endParaRPr>
          </a:p>
        </p:txBody>
      </p:sp>
      <p:sp>
        <p:nvSpPr>
          <p:cNvPr id="135" name="Google Shape;135;p22"/>
          <p:cNvSpPr txBox="1"/>
          <p:nvPr/>
        </p:nvSpPr>
        <p:spPr>
          <a:xfrm>
            <a:off x="1352800" y="1004475"/>
            <a:ext cx="573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solidFill>
                <a:schemeClr val="dk2"/>
              </a:solidFill>
              <a:latin typeface="Lexend"/>
              <a:ea typeface="Lexend"/>
              <a:cs typeface="Lexend"/>
              <a:sym typeface="Lexend"/>
            </a:endParaRPr>
          </a:p>
        </p:txBody>
      </p:sp>
      <p:sp>
        <p:nvSpPr>
          <p:cNvPr id="136" name="Google Shape;136;p22"/>
          <p:cNvSpPr txBox="1"/>
          <p:nvPr/>
        </p:nvSpPr>
        <p:spPr>
          <a:xfrm>
            <a:off x="1410000" y="2189775"/>
            <a:ext cx="545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000">
              <a:solidFill>
                <a:schemeClr val="dk2"/>
              </a:solidFill>
              <a:latin typeface="Lexend"/>
              <a:ea typeface="Lexend"/>
              <a:cs typeface="Lexend"/>
              <a:sym typeface="Lexend"/>
            </a:endParaRPr>
          </a:p>
        </p:txBody>
      </p:sp>
      <p:sp>
        <p:nvSpPr>
          <p:cNvPr id="137" name="Google Shape;137;p22"/>
          <p:cNvSpPr txBox="1"/>
          <p:nvPr/>
        </p:nvSpPr>
        <p:spPr>
          <a:xfrm>
            <a:off x="1352800" y="958425"/>
            <a:ext cx="58416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2"/>
                </a:solidFill>
                <a:latin typeface="Lexend"/>
                <a:ea typeface="Lexend"/>
                <a:cs typeface="Lexend"/>
                <a:sym typeface="Lexend"/>
              </a:rPr>
              <a:t>Write-Back Buffer:</a:t>
            </a:r>
            <a:endParaRPr b="1" sz="2000">
              <a:solidFill>
                <a:schemeClr val="dk2"/>
              </a:solidFill>
              <a:latin typeface="Lexend"/>
              <a:ea typeface="Lexend"/>
              <a:cs typeface="Lexend"/>
              <a:sym typeface="Lexend"/>
            </a:endParaRPr>
          </a:p>
          <a:p>
            <a:pPr indent="0" lvl="0" marL="0" rtl="0" algn="l">
              <a:spcBef>
                <a:spcPts val="0"/>
              </a:spcBef>
              <a:spcAft>
                <a:spcPts val="0"/>
              </a:spcAft>
              <a:buNone/>
            </a:pPr>
            <a:r>
              <a:rPr b="1" lang="en" sz="1500">
                <a:solidFill>
                  <a:schemeClr val="dk2"/>
                </a:solidFill>
                <a:latin typeface="Lexend"/>
                <a:ea typeface="Lexend"/>
                <a:cs typeface="Lexend"/>
                <a:sym typeface="Lexend"/>
              </a:rPr>
              <a:t>an accumulated vector is written to memory only during the execution of last work unit of that row. Hence saving time for it in last stage for every work unit is waste of time. So we will write the accumulated vector to Buffer.</a:t>
            </a:r>
            <a:endParaRPr b="1" sz="1500">
              <a:solidFill>
                <a:schemeClr val="dk2"/>
              </a:solidFill>
              <a:latin typeface="Lexend"/>
              <a:ea typeface="Lexend"/>
              <a:cs typeface="Lexend"/>
              <a:sym typeface="Lexend"/>
            </a:endParaRPr>
          </a:p>
          <a:p>
            <a:pPr indent="0" lvl="0" marL="0" rtl="0" algn="l">
              <a:spcBef>
                <a:spcPts val="0"/>
              </a:spcBef>
              <a:spcAft>
                <a:spcPts val="0"/>
              </a:spcAft>
              <a:buNone/>
            </a:pPr>
            <a:r>
              <a:rPr b="1" lang="en" sz="1500">
                <a:solidFill>
                  <a:schemeClr val="dk2"/>
                </a:solidFill>
                <a:latin typeface="Lexend"/>
                <a:ea typeface="Lexend"/>
                <a:cs typeface="Lexend"/>
                <a:sym typeface="Lexend"/>
              </a:rPr>
              <a:t>We will discuss later about when the buffer is emptied.</a:t>
            </a:r>
            <a:endParaRPr b="1" sz="1500">
              <a:solidFill>
                <a:schemeClr val="dk2"/>
              </a:solidFill>
              <a:latin typeface="Lexend"/>
              <a:ea typeface="Lexend"/>
              <a:cs typeface="Lexend"/>
              <a:sym typeface="Lexend"/>
            </a:endParaRPr>
          </a:p>
        </p:txBody>
      </p:sp>
      <p:sp>
        <p:nvSpPr>
          <p:cNvPr id="138" name="Google Shape;138;p22"/>
          <p:cNvSpPr txBox="1"/>
          <p:nvPr/>
        </p:nvSpPr>
        <p:spPr>
          <a:xfrm>
            <a:off x="1294800" y="4728000"/>
            <a:ext cx="504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Note: The buffer size never crosses 2 at any point.</a:t>
            </a:r>
            <a:endParaRPr/>
          </a:p>
        </p:txBody>
      </p:sp>
      <p:sp>
        <p:nvSpPr>
          <p:cNvPr id="139" name="Google Shape;139;p22"/>
          <p:cNvSpPr txBox="1"/>
          <p:nvPr/>
        </p:nvSpPr>
        <p:spPr>
          <a:xfrm>
            <a:off x="1410000" y="3061975"/>
            <a:ext cx="4639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3 Pipelined Registers to avoid data hazards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3" name="Shape 143"/>
        <p:cNvGrpSpPr/>
        <p:nvPr/>
      </p:nvGrpSpPr>
      <p:grpSpPr>
        <a:xfrm>
          <a:off x="0" y="0"/>
          <a:ext cx="0" cy="0"/>
          <a:chOff x="0" y="0"/>
          <a:chExt cx="0" cy="0"/>
        </a:xfrm>
      </p:grpSpPr>
      <p:sp>
        <p:nvSpPr>
          <p:cNvPr id="144" name="Google Shape;144;p23"/>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Stages inside Pipelining</a:t>
            </a:r>
            <a:endParaRPr b="1" u="sng">
              <a:solidFill>
                <a:srgbClr val="F1C232"/>
              </a:solidFill>
              <a:latin typeface="Oswald"/>
              <a:ea typeface="Oswald"/>
              <a:cs typeface="Oswald"/>
              <a:sym typeface="Oswald"/>
            </a:endParaRPr>
          </a:p>
        </p:txBody>
      </p:sp>
      <p:sp>
        <p:nvSpPr>
          <p:cNvPr id="145" name="Google Shape;145;p23"/>
          <p:cNvSpPr txBox="1"/>
          <p:nvPr/>
        </p:nvSpPr>
        <p:spPr>
          <a:xfrm>
            <a:off x="1352800" y="1004475"/>
            <a:ext cx="573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500">
              <a:solidFill>
                <a:schemeClr val="dk2"/>
              </a:solidFill>
              <a:latin typeface="Lexend"/>
              <a:ea typeface="Lexend"/>
              <a:cs typeface="Lexend"/>
              <a:sym typeface="Lexend"/>
            </a:endParaRPr>
          </a:p>
        </p:txBody>
      </p:sp>
      <p:sp>
        <p:nvSpPr>
          <p:cNvPr id="146" name="Google Shape;146;p23"/>
          <p:cNvSpPr txBox="1"/>
          <p:nvPr/>
        </p:nvSpPr>
        <p:spPr>
          <a:xfrm>
            <a:off x="1464325" y="952375"/>
            <a:ext cx="5841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Lexend"/>
                <a:ea typeface="Lexend"/>
                <a:cs typeface="Lexend"/>
                <a:sym typeface="Lexend"/>
              </a:rPr>
              <a:t>Stage-1 OF : It </a:t>
            </a:r>
            <a:r>
              <a:rPr b="1" lang="en" sz="1300">
                <a:solidFill>
                  <a:schemeClr val="dk2"/>
                </a:solidFill>
                <a:latin typeface="Lexend"/>
                <a:ea typeface="Lexend"/>
                <a:cs typeface="Lexend"/>
                <a:sym typeface="Lexend"/>
              </a:rPr>
              <a:t>fetches offset from meta-data matrix</a:t>
            </a:r>
            <a:endParaRPr b="1" sz="1300">
              <a:solidFill>
                <a:schemeClr val="dk2"/>
              </a:solidFill>
              <a:latin typeface="Lexend"/>
              <a:ea typeface="Lexend"/>
              <a:cs typeface="Lexend"/>
              <a:sym typeface="Lexend"/>
            </a:endParaRPr>
          </a:p>
        </p:txBody>
      </p:sp>
      <p:sp>
        <p:nvSpPr>
          <p:cNvPr id="147" name="Google Shape;147;p23"/>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48" name="Google Shape;148;p23"/>
          <p:cNvSpPr txBox="1"/>
          <p:nvPr/>
        </p:nvSpPr>
        <p:spPr>
          <a:xfrm>
            <a:off x="1390000" y="1337275"/>
            <a:ext cx="5700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Lexend"/>
                <a:ea typeface="Lexend"/>
                <a:cs typeface="Lexend"/>
                <a:sym typeface="Lexend"/>
              </a:rPr>
              <a:t>Stage-2 VF: It fetches dense matrix row and </a:t>
            </a:r>
            <a:r>
              <a:rPr b="1" lang="en" sz="1300">
                <a:solidFill>
                  <a:schemeClr val="dk2"/>
                </a:solidFill>
                <a:latin typeface="Lexend"/>
                <a:ea typeface="Lexend"/>
                <a:cs typeface="Lexend"/>
                <a:sym typeface="Lexend"/>
              </a:rPr>
              <a:t>simultaneously</a:t>
            </a:r>
            <a:r>
              <a:rPr b="1" lang="en" sz="1300">
                <a:solidFill>
                  <a:schemeClr val="dk2"/>
                </a:solidFill>
                <a:latin typeface="Lexend"/>
                <a:ea typeface="Lexend"/>
                <a:cs typeface="Lexend"/>
                <a:sym typeface="Lexend"/>
              </a:rPr>
              <a:t> empties buffer (both have same size and have </a:t>
            </a:r>
            <a:r>
              <a:rPr b="1" lang="en" sz="1300">
                <a:solidFill>
                  <a:schemeClr val="dk2"/>
                </a:solidFill>
                <a:latin typeface="Lexend"/>
                <a:ea typeface="Lexend"/>
                <a:cs typeface="Lexend"/>
                <a:sym typeface="Lexend"/>
              </a:rPr>
              <a:t>different ports</a:t>
            </a:r>
            <a:r>
              <a:rPr b="1" lang="en" sz="1300">
                <a:solidFill>
                  <a:schemeClr val="dk2"/>
                </a:solidFill>
                <a:latin typeface="Lexend"/>
                <a:ea typeface="Lexend"/>
                <a:cs typeface="Lexend"/>
                <a:sym typeface="Lexend"/>
              </a:rPr>
              <a:t>). It also fetches non zero scalar from sparse matrix</a:t>
            </a:r>
            <a:endParaRPr/>
          </a:p>
        </p:txBody>
      </p:sp>
      <p:sp>
        <p:nvSpPr>
          <p:cNvPr id="149" name="Google Shape;149;p23"/>
          <p:cNvSpPr txBox="1"/>
          <p:nvPr/>
        </p:nvSpPr>
        <p:spPr>
          <a:xfrm>
            <a:off x="1390000" y="2085975"/>
            <a:ext cx="58416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Lexend"/>
                <a:ea typeface="Lexend"/>
                <a:cs typeface="Lexend"/>
                <a:sym typeface="Lexend"/>
              </a:rPr>
              <a:t>Stage-3 SVMUL : It </a:t>
            </a:r>
            <a:r>
              <a:rPr b="1" lang="en" sz="1300">
                <a:solidFill>
                  <a:schemeClr val="dk2"/>
                </a:solidFill>
                <a:latin typeface="Lexend"/>
                <a:ea typeface="Lexend"/>
                <a:cs typeface="Lexend"/>
                <a:sym typeface="Lexend"/>
              </a:rPr>
              <a:t>multiplies scalar fetched and dense row fetched and pass it to next stage. (Basically performs scalar multiplication).</a:t>
            </a:r>
            <a:endParaRPr b="1" sz="1300">
              <a:solidFill>
                <a:schemeClr val="dk2"/>
              </a:solidFill>
              <a:latin typeface="Lexend"/>
              <a:ea typeface="Lexend"/>
              <a:cs typeface="Lexend"/>
              <a:sym typeface="Lexend"/>
            </a:endParaRPr>
          </a:p>
        </p:txBody>
      </p:sp>
      <p:sp>
        <p:nvSpPr>
          <p:cNvPr id="150" name="Google Shape;150;p23"/>
          <p:cNvSpPr txBox="1"/>
          <p:nvPr/>
        </p:nvSpPr>
        <p:spPr>
          <a:xfrm>
            <a:off x="1426800" y="2840188"/>
            <a:ext cx="58416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Lexend"/>
                <a:ea typeface="Lexend"/>
                <a:cs typeface="Lexend"/>
                <a:sym typeface="Lexend"/>
              </a:rPr>
              <a:t>Stage-4 ACC : It accumulates all these vectors from 3rd stage until last work unit of a row is found. If found it write it to buffer and sets accumulator to zero.</a:t>
            </a:r>
            <a:endParaRPr b="1" sz="1300">
              <a:solidFill>
                <a:schemeClr val="dk2"/>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24"/>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Problems in stage-2</a:t>
            </a:r>
            <a:endParaRPr b="1" u="sng">
              <a:solidFill>
                <a:srgbClr val="F1C232"/>
              </a:solidFill>
              <a:latin typeface="Oswald"/>
              <a:ea typeface="Oswald"/>
              <a:cs typeface="Oswald"/>
              <a:sym typeface="Oswald"/>
            </a:endParaRPr>
          </a:p>
        </p:txBody>
      </p:sp>
      <p:sp>
        <p:nvSpPr>
          <p:cNvPr id="156" name="Google Shape;156;p24"/>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7" name="Google Shape;157;p24"/>
          <p:cNvSpPr txBox="1"/>
          <p:nvPr/>
        </p:nvSpPr>
        <p:spPr>
          <a:xfrm>
            <a:off x="1480825" y="1116225"/>
            <a:ext cx="56928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Lexend"/>
                <a:ea typeface="Lexend"/>
                <a:cs typeface="Lexend"/>
                <a:sym typeface="Lexend"/>
              </a:rPr>
              <a:t>In Pipelining all stages should take similar amount of time for efficiency. In second stage we are fetching entire row of dense matrix which can be as large as 2^31 -1. Hence this stage will become so slow and hence pipeline does more bad than good.</a:t>
            </a:r>
            <a:endParaRPr b="1" sz="1300">
              <a:solidFill>
                <a:schemeClr val="dk2"/>
              </a:solidFill>
              <a:latin typeface="Lexend"/>
              <a:ea typeface="Lexend"/>
              <a:cs typeface="Lexend"/>
              <a:sym typeface="Lexend"/>
            </a:endParaRPr>
          </a:p>
        </p:txBody>
      </p:sp>
      <p:sp>
        <p:nvSpPr>
          <p:cNvPr id="158" name="Google Shape;158;p24"/>
          <p:cNvSpPr txBox="1"/>
          <p:nvPr/>
        </p:nvSpPr>
        <p:spPr>
          <a:xfrm>
            <a:off x="1480825" y="2429475"/>
            <a:ext cx="46881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Lexend"/>
                <a:ea typeface="Lexend"/>
                <a:cs typeface="Lexend"/>
                <a:sym typeface="Lexend"/>
              </a:rPr>
              <a:t>To combat this, multiplication is done lane wise i.e we </a:t>
            </a:r>
            <a:r>
              <a:rPr b="1" lang="en" sz="1300">
                <a:solidFill>
                  <a:schemeClr val="dk2"/>
                </a:solidFill>
                <a:latin typeface="Lexend"/>
                <a:ea typeface="Lexend"/>
                <a:cs typeface="Lexend"/>
                <a:sym typeface="Lexend"/>
              </a:rPr>
              <a:t>only fetch 8 columns at a time. The dense matrix is divided into several matrices whose number of columns are 8.</a:t>
            </a:r>
            <a:endParaRPr b="1" sz="1300">
              <a:solidFill>
                <a:schemeClr val="dk2"/>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25"/>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 Clock Period of this pipeline</a:t>
            </a:r>
            <a:endParaRPr b="1" u="sng">
              <a:solidFill>
                <a:srgbClr val="F1C232"/>
              </a:solidFill>
              <a:latin typeface="Oswald"/>
              <a:ea typeface="Oswald"/>
              <a:cs typeface="Oswald"/>
              <a:sym typeface="Oswald"/>
            </a:endParaRPr>
          </a:p>
        </p:txBody>
      </p:sp>
      <p:sp>
        <p:nvSpPr>
          <p:cNvPr id="164" name="Google Shape;164;p25"/>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5" name="Google Shape;165;p25"/>
          <p:cNvSpPr txBox="1"/>
          <p:nvPr/>
        </p:nvSpPr>
        <p:spPr>
          <a:xfrm>
            <a:off x="1480825" y="1116225"/>
            <a:ext cx="5692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Lexend"/>
                <a:ea typeface="Lexend"/>
                <a:cs typeface="Lexend"/>
                <a:sym typeface="Lexend"/>
              </a:rPr>
              <a:t>From this pipeline its evident that second stage is the slowest one, it fetched 8 elements i.e 8 * 64 bytes from data memory.</a:t>
            </a:r>
            <a:endParaRPr b="1" sz="1300">
              <a:solidFill>
                <a:schemeClr val="dk2"/>
              </a:solidFill>
              <a:latin typeface="Lexend"/>
              <a:ea typeface="Lexend"/>
              <a:cs typeface="Lexend"/>
              <a:sym typeface="Lexend"/>
            </a:endParaRPr>
          </a:p>
        </p:txBody>
      </p:sp>
      <p:sp>
        <p:nvSpPr>
          <p:cNvPr id="166" name="Google Shape;166;p25"/>
          <p:cNvSpPr txBox="1"/>
          <p:nvPr/>
        </p:nvSpPr>
        <p:spPr>
          <a:xfrm>
            <a:off x="1480825" y="2135675"/>
            <a:ext cx="53205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latin typeface="Lexend"/>
                <a:ea typeface="Lexend"/>
                <a:cs typeface="Lexend"/>
                <a:sym typeface="Lexend"/>
              </a:rPr>
              <a:t>By using interleaved memory layout for fetching we can say that Clock period 2 is 1.5x times of clock period-1. But they should have integral relationship hence </a:t>
            </a:r>
            <a:r>
              <a:rPr b="1" lang="en" sz="1300">
                <a:solidFill>
                  <a:schemeClr val="dk2"/>
                </a:solidFill>
                <a:latin typeface="Lexend"/>
                <a:ea typeface="Lexend"/>
                <a:cs typeface="Lexend"/>
                <a:sym typeface="Lexend"/>
              </a:rPr>
              <a:t>clock</a:t>
            </a:r>
            <a:r>
              <a:rPr b="1" lang="en" sz="1300">
                <a:solidFill>
                  <a:schemeClr val="dk2"/>
                </a:solidFill>
                <a:latin typeface="Lexend"/>
                <a:ea typeface="Lexend"/>
                <a:cs typeface="Lexend"/>
                <a:sym typeface="Lexend"/>
              </a:rPr>
              <a:t> period-2 is set twice of clock period-1. To simply express if it takes x cycles in sparse pipeline to execute an instruction, the main datapath is stalled for 2x main cycles. </a:t>
            </a:r>
            <a:endParaRPr b="1" sz="1300">
              <a:solidFill>
                <a:schemeClr val="dk2"/>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26"/>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Program counter </a:t>
            </a:r>
            <a:endParaRPr b="1" u="sng">
              <a:solidFill>
                <a:srgbClr val="F1C232"/>
              </a:solidFill>
              <a:latin typeface="Oswald"/>
              <a:ea typeface="Oswald"/>
              <a:cs typeface="Oswald"/>
              <a:sym typeface="Oswald"/>
            </a:endParaRPr>
          </a:p>
        </p:txBody>
      </p:sp>
      <p:sp>
        <p:nvSpPr>
          <p:cNvPr id="172" name="Google Shape;172;p26"/>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73" name="Google Shape;173;p26" title="Screenshot from 2025-11-23 12-37-52.png"/>
          <p:cNvPicPr preferRelativeResize="0"/>
          <p:nvPr/>
        </p:nvPicPr>
        <p:blipFill rotWithShape="1">
          <a:blip r:embed="rId4">
            <a:alphaModFix/>
          </a:blip>
          <a:srcRect b="0" l="0" r="0" t="59776"/>
          <a:stretch/>
        </p:blipFill>
        <p:spPr>
          <a:xfrm>
            <a:off x="1390000" y="1391550"/>
            <a:ext cx="2238975" cy="3103625"/>
          </a:xfrm>
          <a:prstGeom prst="rect">
            <a:avLst/>
          </a:prstGeom>
          <a:noFill/>
          <a:ln>
            <a:noFill/>
          </a:ln>
        </p:spPr>
      </p:pic>
      <p:sp>
        <p:nvSpPr>
          <p:cNvPr id="174" name="Google Shape;174;p26"/>
          <p:cNvSpPr txBox="1"/>
          <p:nvPr/>
        </p:nvSpPr>
        <p:spPr>
          <a:xfrm>
            <a:off x="3996050" y="1860325"/>
            <a:ext cx="3429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Counter got stuck for </a:t>
            </a:r>
            <a:r>
              <a:rPr lang="en" sz="1800">
                <a:solidFill>
                  <a:schemeClr val="dk2"/>
                </a:solidFill>
                <a:latin typeface="Lexend ExtraBold"/>
                <a:ea typeface="Lexend ExtraBold"/>
                <a:cs typeface="Lexend ExtraBold"/>
                <a:sym typeface="Lexend ExtraBold"/>
              </a:rPr>
              <a:t>several cycles because the main datapath is stalled until sparse_mul is executed</a:t>
            </a:r>
            <a:endParaRPr sz="1800">
              <a:solidFill>
                <a:schemeClr val="dk2"/>
              </a:solidFill>
              <a:latin typeface="Lexend ExtraBold"/>
              <a:ea typeface="Lexend ExtraBold"/>
              <a:cs typeface="Lexend ExtraBold"/>
              <a:sym typeface="Lexend Extra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27"/>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Performance Analysis</a:t>
            </a:r>
            <a:r>
              <a:rPr b="1" lang="en" u="sng">
                <a:solidFill>
                  <a:srgbClr val="F1C232"/>
                </a:solidFill>
                <a:latin typeface="Oswald"/>
                <a:ea typeface="Oswald"/>
                <a:cs typeface="Oswald"/>
                <a:sym typeface="Oswald"/>
              </a:rPr>
              <a:t> </a:t>
            </a:r>
            <a:endParaRPr b="1" u="sng">
              <a:solidFill>
                <a:srgbClr val="F1C232"/>
              </a:solidFill>
              <a:latin typeface="Oswald"/>
              <a:ea typeface="Oswald"/>
              <a:cs typeface="Oswald"/>
              <a:sym typeface="Oswald"/>
            </a:endParaRPr>
          </a:p>
        </p:txBody>
      </p:sp>
      <p:sp>
        <p:nvSpPr>
          <p:cNvPr id="180" name="Google Shape;180;p27"/>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1" name="Google Shape;181;p27"/>
          <p:cNvSpPr txBox="1"/>
          <p:nvPr/>
        </p:nvSpPr>
        <p:spPr>
          <a:xfrm>
            <a:off x="1436200" y="952375"/>
            <a:ext cx="5201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Lexend ExtraBold"/>
                <a:ea typeface="Lexend ExtraBold"/>
                <a:cs typeface="Lexend ExtraBold"/>
                <a:sym typeface="Lexend ExtraBold"/>
              </a:rPr>
              <a:t>Let’s assume there are 2 matrices of dimensions (a x b) , (b x c) . ‘s’ denotes the sparsity of the matrix-1 in fraction, </a:t>
            </a:r>
            <a:endParaRPr sz="1600">
              <a:solidFill>
                <a:schemeClr val="dk2"/>
              </a:solidFill>
              <a:latin typeface="Lexend ExtraBold"/>
              <a:ea typeface="Lexend ExtraBold"/>
              <a:cs typeface="Lexend ExtraBold"/>
              <a:sym typeface="Lexend ExtraBold"/>
            </a:endParaRPr>
          </a:p>
        </p:txBody>
      </p:sp>
      <p:sp>
        <p:nvSpPr>
          <p:cNvPr id="182" name="Google Shape;182;p27"/>
          <p:cNvSpPr txBox="1"/>
          <p:nvPr/>
        </p:nvSpPr>
        <p:spPr>
          <a:xfrm>
            <a:off x="1360225" y="1729950"/>
            <a:ext cx="5964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Lexend ExtraBold"/>
                <a:ea typeface="Lexend ExtraBold"/>
                <a:cs typeface="Lexend ExtraBold"/>
                <a:sym typeface="Lexend ExtraBold"/>
              </a:rPr>
              <a:t>A matrix multiplication program on RISC-V runs for approximately 8(abc) cycles.. </a:t>
            </a:r>
            <a:r>
              <a:rPr lang="en" sz="1600" u="sng">
                <a:solidFill>
                  <a:schemeClr val="hlink"/>
                </a:solidFill>
                <a:latin typeface="Lexend ExtraBold"/>
                <a:ea typeface="Lexend ExtraBold"/>
                <a:cs typeface="Lexend ExtraBold"/>
                <a:sym typeface="Lexend ExtraBold"/>
                <a:hlinkClick r:id="rId4"/>
              </a:rPr>
              <a:t>source</a:t>
            </a:r>
            <a:endParaRPr sz="1200"/>
          </a:p>
        </p:txBody>
      </p:sp>
      <p:sp>
        <p:nvSpPr>
          <p:cNvPr id="183" name="Google Shape;183;p27"/>
          <p:cNvSpPr txBox="1"/>
          <p:nvPr/>
        </p:nvSpPr>
        <p:spPr>
          <a:xfrm>
            <a:off x="1436200" y="2327475"/>
            <a:ext cx="4904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In the accelerator , number of </a:t>
            </a:r>
            <a:r>
              <a:rPr lang="en" sz="1800">
                <a:solidFill>
                  <a:schemeClr val="dk2"/>
                </a:solidFill>
                <a:latin typeface="Lexend ExtraBold"/>
                <a:ea typeface="Lexend ExtraBold"/>
                <a:cs typeface="Lexend ExtraBold"/>
                <a:sym typeface="Lexend ExtraBold"/>
              </a:rPr>
              <a:t>work units are approximately ab(1-s) * c/8. So number of main clock cycles is twice of this = abc(1-s)/4.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28"/>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Performance Analysis </a:t>
            </a:r>
            <a:endParaRPr b="1" u="sng">
              <a:solidFill>
                <a:srgbClr val="F1C232"/>
              </a:solidFill>
              <a:latin typeface="Oswald"/>
              <a:ea typeface="Oswald"/>
              <a:cs typeface="Oswald"/>
              <a:sym typeface="Oswald"/>
            </a:endParaRPr>
          </a:p>
        </p:txBody>
      </p:sp>
      <p:sp>
        <p:nvSpPr>
          <p:cNvPr id="189" name="Google Shape;189;p28"/>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90" name="Google Shape;190;p28" title="Untitled.png"/>
          <p:cNvPicPr preferRelativeResize="0"/>
          <p:nvPr/>
        </p:nvPicPr>
        <p:blipFill>
          <a:blip r:embed="rId4">
            <a:alphaModFix/>
          </a:blip>
          <a:stretch>
            <a:fillRect/>
          </a:stretch>
        </p:blipFill>
        <p:spPr>
          <a:xfrm>
            <a:off x="1976900" y="1190500"/>
            <a:ext cx="5050405" cy="34708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p29"/>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The Meta-Data Matrix</a:t>
            </a:r>
            <a:endParaRPr b="1" u="sng">
              <a:solidFill>
                <a:srgbClr val="F1C232"/>
              </a:solidFill>
              <a:latin typeface="Oswald"/>
              <a:ea typeface="Oswald"/>
              <a:cs typeface="Oswald"/>
              <a:sym typeface="Oswald"/>
            </a:endParaRPr>
          </a:p>
        </p:txBody>
      </p:sp>
      <p:sp>
        <p:nvSpPr>
          <p:cNvPr id="196" name="Google Shape;196;p29"/>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7" name="Google Shape;197;p29"/>
          <p:cNvSpPr txBox="1"/>
          <p:nvPr/>
        </p:nvSpPr>
        <p:spPr>
          <a:xfrm>
            <a:off x="1644550" y="1614775"/>
            <a:ext cx="6303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Writing meta-data for sparse matrix every time is not so </a:t>
            </a:r>
            <a:r>
              <a:rPr lang="en" sz="1800">
                <a:solidFill>
                  <a:schemeClr val="dk2"/>
                </a:solidFill>
                <a:latin typeface="Lexend ExtraBold"/>
                <a:ea typeface="Lexend ExtraBold"/>
                <a:cs typeface="Lexend ExtraBold"/>
                <a:sym typeface="Lexend ExtraBold"/>
              </a:rPr>
              <a:t>feasible</a:t>
            </a:r>
            <a:r>
              <a:rPr lang="en" sz="1800">
                <a:solidFill>
                  <a:schemeClr val="dk2"/>
                </a:solidFill>
                <a:latin typeface="Lexend ExtraBold"/>
                <a:ea typeface="Lexend ExtraBold"/>
                <a:cs typeface="Lexend ExtraBold"/>
                <a:sym typeface="Lexend ExtraBold"/>
              </a:rPr>
              <a:t> as matrices can be very large. Considering this an instruction of R-type mutli-cycle instruction ‘meta’ has been added to the simulator which doesn’t focus much on </a:t>
            </a:r>
            <a:r>
              <a:rPr lang="en" sz="1800">
                <a:solidFill>
                  <a:schemeClr val="dk2"/>
                </a:solidFill>
                <a:latin typeface="Lexend ExtraBold"/>
                <a:ea typeface="Lexend ExtraBold"/>
                <a:cs typeface="Lexend ExtraBold"/>
                <a:sym typeface="Lexend ExtraBold"/>
              </a:rPr>
              <a:t>throughput</a:t>
            </a:r>
            <a:r>
              <a:rPr lang="en" sz="1800">
                <a:solidFill>
                  <a:schemeClr val="dk2"/>
                </a:solidFill>
                <a:latin typeface="Lexend ExtraBold"/>
                <a:ea typeface="Lexend ExtraBold"/>
                <a:cs typeface="Lexend ExtraBold"/>
                <a:sym typeface="Lexend ExtraBold"/>
              </a:rPr>
              <a:t> because  once meta-data for a matrix is created you could use it infinite times.</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1" name="Shape 201"/>
        <p:cNvGrpSpPr/>
        <p:nvPr/>
      </p:nvGrpSpPr>
      <p:grpSpPr>
        <a:xfrm>
          <a:off x="0" y="0"/>
          <a:ext cx="0" cy="0"/>
          <a:chOff x="0" y="0"/>
          <a:chExt cx="0" cy="0"/>
        </a:xfrm>
      </p:grpSpPr>
      <p:sp>
        <p:nvSpPr>
          <p:cNvPr id="202" name="Google Shape;202;p30"/>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Instruction</a:t>
            </a:r>
            <a:r>
              <a:rPr b="1" lang="en" u="sng">
                <a:solidFill>
                  <a:srgbClr val="F1C232"/>
                </a:solidFill>
                <a:latin typeface="Oswald"/>
                <a:ea typeface="Oswald"/>
                <a:cs typeface="Oswald"/>
                <a:sym typeface="Oswald"/>
              </a:rPr>
              <a:t> Encoding for meta instruction</a:t>
            </a:r>
            <a:endParaRPr b="1" u="sng">
              <a:solidFill>
                <a:srgbClr val="F1C232"/>
              </a:solidFill>
              <a:latin typeface="Oswald"/>
              <a:ea typeface="Oswald"/>
              <a:cs typeface="Oswald"/>
              <a:sym typeface="Oswald"/>
            </a:endParaRPr>
          </a:p>
        </p:txBody>
      </p:sp>
      <p:sp>
        <p:nvSpPr>
          <p:cNvPr id="203" name="Google Shape;203;p30"/>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4" name="Google Shape;204;p30"/>
          <p:cNvSpPr txBox="1"/>
          <p:nvPr/>
        </p:nvSpPr>
        <p:spPr>
          <a:xfrm>
            <a:off x="1503150" y="2113350"/>
            <a:ext cx="6303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R - format</a:t>
            </a:r>
            <a:endParaRPr sz="1800">
              <a:solidFill>
                <a:schemeClr val="dk2"/>
              </a:solidFill>
              <a:latin typeface="Lexend ExtraBold"/>
              <a:ea typeface="Lexend ExtraBold"/>
              <a:cs typeface="Lexend ExtraBold"/>
              <a:sym typeface="Lexend ExtraBold"/>
            </a:endParaRPr>
          </a:p>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OP code - 011011</a:t>
            </a:r>
            <a:endParaRPr sz="1800">
              <a:solidFill>
                <a:schemeClr val="dk2"/>
              </a:solidFill>
              <a:latin typeface="Lexend ExtraBold"/>
              <a:ea typeface="Lexend ExtraBold"/>
              <a:cs typeface="Lexend ExtraBold"/>
              <a:sym typeface="Lexend ExtraBold"/>
            </a:endParaRPr>
          </a:p>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Func7 - 1000000</a:t>
            </a:r>
            <a:endParaRPr sz="1800">
              <a:solidFill>
                <a:schemeClr val="dk2"/>
              </a:solidFill>
              <a:latin typeface="Lexend ExtraBold"/>
              <a:ea typeface="Lexend ExtraBold"/>
              <a:cs typeface="Lexend ExtraBold"/>
              <a:sym typeface="Lexend ExtraBold"/>
            </a:endParaRPr>
          </a:p>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Func3 - 100</a:t>
            </a:r>
            <a:endParaRPr sz="1800">
              <a:solidFill>
                <a:schemeClr val="dk2"/>
              </a:solidFill>
              <a:latin typeface="Lexend ExtraBold"/>
              <a:ea typeface="Lexend ExtraBold"/>
              <a:cs typeface="Lexend ExtraBold"/>
              <a:sym typeface="Lexend ExtraBold"/>
            </a:endParaRPr>
          </a:p>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Instruction use : meta rd, rs1, x0.</a:t>
            </a:r>
            <a:endParaRPr sz="1800">
              <a:solidFill>
                <a:schemeClr val="dk2"/>
              </a:solidFill>
              <a:latin typeface="Lexend ExtraBold"/>
              <a:ea typeface="Lexend ExtraBold"/>
              <a:cs typeface="Lexend ExtraBold"/>
              <a:sym typeface="Lexend Extra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sp>
        <p:nvSpPr>
          <p:cNvPr id="209" name="Google Shape;209;p31"/>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Testing </a:t>
            </a:r>
            <a:endParaRPr b="1" u="sng">
              <a:solidFill>
                <a:srgbClr val="F1C232"/>
              </a:solidFill>
              <a:latin typeface="Oswald"/>
              <a:ea typeface="Oswald"/>
              <a:cs typeface="Oswald"/>
              <a:sym typeface="Oswald"/>
            </a:endParaRPr>
          </a:p>
          <a:p>
            <a:pPr indent="0" lvl="0" marL="0" rtl="0" algn="l">
              <a:spcBef>
                <a:spcPts val="0"/>
              </a:spcBef>
              <a:spcAft>
                <a:spcPts val="0"/>
              </a:spcAft>
              <a:buNone/>
            </a:pPr>
            <a:r>
              <a:t/>
            </a:r>
            <a:endParaRPr b="1" u="sng">
              <a:solidFill>
                <a:srgbClr val="F1C232"/>
              </a:solidFill>
              <a:latin typeface="Oswald"/>
              <a:ea typeface="Oswald"/>
              <a:cs typeface="Oswald"/>
              <a:sym typeface="Oswald"/>
            </a:endParaRPr>
          </a:p>
        </p:txBody>
      </p:sp>
      <p:sp>
        <p:nvSpPr>
          <p:cNvPr id="210" name="Google Shape;210;p31"/>
          <p:cNvSpPr txBox="1"/>
          <p:nvPr/>
        </p:nvSpPr>
        <p:spPr>
          <a:xfrm>
            <a:off x="1294800" y="4728000"/>
            <a:ext cx="504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11" name="Google Shape;211;p31"/>
          <p:cNvSpPr txBox="1"/>
          <p:nvPr/>
        </p:nvSpPr>
        <p:spPr>
          <a:xfrm>
            <a:off x="1390000" y="1079000"/>
            <a:ext cx="6303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Checking matrix </a:t>
            </a:r>
            <a:r>
              <a:rPr lang="en" sz="1800">
                <a:solidFill>
                  <a:schemeClr val="dk2"/>
                </a:solidFill>
                <a:latin typeface="Lexend ExtraBold"/>
                <a:ea typeface="Lexend ExtraBold"/>
                <a:cs typeface="Lexend ExtraBold"/>
                <a:sym typeface="Lexend ExtraBold"/>
              </a:rPr>
              <a:t>multiplication</a:t>
            </a:r>
            <a:r>
              <a:rPr lang="en" sz="1800">
                <a:solidFill>
                  <a:schemeClr val="dk2"/>
                </a:solidFill>
                <a:latin typeface="Lexend ExtraBold"/>
                <a:ea typeface="Lexend ExtraBold"/>
                <a:cs typeface="Lexend ExtraBold"/>
                <a:sym typeface="Lexend ExtraBold"/>
              </a:rPr>
              <a:t> is never </a:t>
            </a:r>
            <a:r>
              <a:rPr lang="en" sz="1800">
                <a:solidFill>
                  <a:schemeClr val="dk2"/>
                </a:solidFill>
                <a:latin typeface="Lexend ExtraBold"/>
                <a:ea typeface="Lexend ExtraBold"/>
                <a:cs typeface="Lexend ExtraBold"/>
                <a:sym typeface="Lexend ExtraBold"/>
              </a:rPr>
              <a:t>easy</a:t>
            </a:r>
            <a:r>
              <a:rPr lang="en" sz="1800">
                <a:solidFill>
                  <a:schemeClr val="dk2"/>
                </a:solidFill>
                <a:latin typeface="Lexend ExtraBold"/>
                <a:ea typeface="Lexend ExtraBold"/>
                <a:cs typeface="Lexend ExtraBold"/>
                <a:sym typeface="Lexend ExtraBold"/>
              </a:rPr>
              <a:t> due to the scale of the operation, hence manual checking offers very little use.</a:t>
            </a:r>
            <a:endParaRPr sz="1800">
              <a:solidFill>
                <a:schemeClr val="dk2"/>
              </a:solidFill>
              <a:latin typeface="Lexend ExtraBold"/>
              <a:ea typeface="Lexend ExtraBold"/>
              <a:cs typeface="Lexend ExtraBold"/>
              <a:sym typeface="Lexend ExtraBold"/>
            </a:endParaRPr>
          </a:p>
        </p:txBody>
      </p:sp>
      <p:sp>
        <p:nvSpPr>
          <p:cNvPr id="212" name="Google Shape;212;p31"/>
          <p:cNvSpPr txBox="1"/>
          <p:nvPr/>
        </p:nvSpPr>
        <p:spPr>
          <a:xfrm>
            <a:off x="1462075" y="2310400"/>
            <a:ext cx="4476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Hence a tester.cpp is created </a:t>
            </a:r>
            <a:r>
              <a:rPr lang="en" sz="1800">
                <a:solidFill>
                  <a:schemeClr val="dk2"/>
                </a:solidFill>
                <a:latin typeface="Lexend ExtraBold"/>
                <a:ea typeface="Lexend ExtraBold"/>
                <a:cs typeface="Lexend ExtraBold"/>
                <a:sym typeface="Lexend ExtraBold"/>
              </a:rPr>
              <a:t>which</a:t>
            </a:r>
            <a:r>
              <a:rPr lang="en" sz="1800">
                <a:solidFill>
                  <a:schemeClr val="dk2"/>
                </a:solidFill>
                <a:latin typeface="Lexend ExtraBold"/>
                <a:ea typeface="Lexend ExtraBold"/>
                <a:cs typeface="Lexend ExtraBold"/>
                <a:sym typeface="Lexend ExtraBold"/>
              </a:rPr>
              <a:t> will generate random matrices and checks whether output and expected output is same.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sp>
        <p:nvSpPr>
          <p:cNvPr id="217" name="Google Shape;217;p32"/>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Testing </a:t>
            </a:r>
            <a:endParaRPr b="1" u="sng">
              <a:solidFill>
                <a:srgbClr val="F1C232"/>
              </a:solidFill>
              <a:latin typeface="Oswald"/>
              <a:ea typeface="Oswald"/>
              <a:cs typeface="Oswald"/>
              <a:sym typeface="Oswald"/>
            </a:endParaRPr>
          </a:p>
          <a:p>
            <a:pPr indent="0" lvl="0" marL="0" rtl="0" algn="l">
              <a:spcBef>
                <a:spcPts val="0"/>
              </a:spcBef>
              <a:spcAft>
                <a:spcPts val="0"/>
              </a:spcAft>
              <a:buNone/>
            </a:pPr>
            <a:r>
              <a:t/>
            </a:r>
            <a:endParaRPr b="1" u="sng">
              <a:solidFill>
                <a:srgbClr val="F1C232"/>
              </a:solidFill>
              <a:latin typeface="Oswald"/>
              <a:ea typeface="Oswald"/>
              <a:cs typeface="Oswald"/>
              <a:sym typeface="Oswald"/>
            </a:endParaRPr>
          </a:p>
        </p:txBody>
      </p:sp>
      <p:sp>
        <p:nvSpPr>
          <p:cNvPr id="218" name="Google Shape;218;p32"/>
          <p:cNvSpPr txBox="1"/>
          <p:nvPr/>
        </p:nvSpPr>
        <p:spPr>
          <a:xfrm>
            <a:off x="1390000" y="1079000"/>
            <a:ext cx="6303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The program has 2 modes of execution:</a:t>
            </a:r>
            <a:endParaRPr sz="1800">
              <a:solidFill>
                <a:schemeClr val="dk2"/>
              </a:solidFill>
              <a:latin typeface="Lexend ExtraBold"/>
              <a:ea typeface="Lexend ExtraBold"/>
              <a:cs typeface="Lexend ExtraBold"/>
              <a:sym typeface="Lexend ExtraBold"/>
            </a:endParaRPr>
          </a:p>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Performance mode : normal mode in which we runs.</a:t>
            </a:r>
            <a:endParaRPr sz="1800">
              <a:solidFill>
                <a:schemeClr val="dk2"/>
              </a:solidFill>
              <a:latin typeface="Lexend ExtraBold"/>
              <a:ea typeface="Lexend ExtraBold"/>
              <a:cs typeface="Lexend ExtraBold"/>
              <a:sym typeface="Lexend ExtraBold"/>
            </a:endParaRPr>
          </a:p>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Testing mode : we run in this mode to check </a:t>
            </a:r>
            <a:r>
              <a:rPr lang="en" sz="1800">
                <a:solidFill>
                  <a:schemeClr val="dk2"/>
                </a:solidFill>
                <a:latin typeface="Lexend ExtraBold"/>
                <a:ea typeface="Lexend ExtraBold"/>
                <a:cs typeface="Lexend ExtraBold"/>
                <a:sym typeface="Lexend ExtraBold"/>
              </a:rPr>
              <a:t>correctness.</a:t>
            </a:r>
            <a:endParaRPr sz="1800">
              <a:solidFill>
                <a:schemeClr val="dk2"/>
              </a:solidFill>
              <a:latin typeface="Lexend ExtraBold"/>
              <a:ea typeface="Lexend ExtraBold"/>
              <a:cs typeface="Lexend ExtraBold"/>
              <a:sym typeface="Lexend ExtraBold"/>
            </a:endParaRPr>
          </a:p>
        </p:txBody>
      </p:sp>
      <p:sp>
        <p:nvSpPr>
          <p:cNvPr id="219" name="Google Shape;219;p32"/>
          <p:cNvSpPr txBox="1"/>
          <p:nvPr/>
        </p:nvSpPr>
        <p:spPr>
          <a:xfrm>
            <a:off x="1313225" y="3034525"/>
            <a:ext cx="6120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The modes can be toggled by the </a:t>
            </a:r>
            <a:r>
              <a:rPr lang="en" sz="1800">
                <a:solidFill>
                  <a:schemeClr val="dk2"/>
                </a:solidFill>
                <a:latin typeface="Lexend ExtraBold"/>
                <a:ea typeface="Lexend ExtraBold"/>
                <a:cs typeface="Lexend ExtraBold"/>
                <a:sym typeface="Lexend ExtraBold"/>
              </a:rPr>
              <a:t>command</a:t>
            </a:r>
            <a:endParaRPr sz="1800">
              <a:solidFill>
                <a:schemeClr val="dk2"/>
              </a:solidFill>
              <a:latin typeface="Lexend ExtraBold"/>
              <a:ea typeface="Lexend ExtraBold"/>
              <a:cs typeface="Lexend ExtraBold"/>
              <a:sym typeface="Lexend ExtraBold"/>
            </a:endParaRPr>
          </a:p>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 </a:t>
            </a:r>
            <a:endParaRPr sz="1800">
              <a:solidFill>
                <a:schemeClr val="dk2"/>
              </a:solidFill>
              <a:latin typeface="Lexend ExtraBold"/>
              <a:ea typeface="Lexend ExtraBold"/>
              <a:cs typeface="Lexend ExtraBold"/>
              <a:sym typeface="Lexend ExtraBold"/>
            </a:endParaRPr>
          </a:p>
          <a:p>
            <a:pPr indent="0" lvl="0" marL="0" rtl="0" algn="l">
              <a:spcBef>
                <a:spcPts val="0"/>
              </a:spcBef>
              <a:spcAft>
                <a:spcPts val="0"/>
              </a:spcAft>
              <a:buNone/>
            </a:pPr>
            <a:r>
              <a:rPr lang="en" sz="1800">
                <a:solidFill>
                  <a:schemeClr val="dk2"/>
                </a:solidFill>
                <a:latin typeface="Oswald"/>
                <a:ea typeface="Oswald"/>
                <a:cs typeface="Oswald"/>
                <a:sym typeface="Oswald"/>
              </a:rPr>
              <a:t>mconfig Execution run_mode testing_mode/performance_mode</a:t>
            </a:r>
            <a:endParaRPr>
              <a:latin typeface="Oswald"/>
              <a:ea typeface="Oswald"/>
              <a:cs typeface="Oswald"/>
              <a:sym typeface="Oswa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33"/>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Testing </a:t>
            </a:r>
            <a:endParaRPr b="1" u="sng">
              <a:solidFill>
                <a:srgbClr val="F1C232"/>
              </a:solidFill>
              <a:latin typeface="Oswald"/>
              <a:ea typeface="Oswald"/>
              <a:cs typeface="Oswald"/>
              <a:sym typeface="Oswald"/>
            </a:endParaRPr>
          </a:p>
          <a:p>
            <a:pPr indent="0" lvl="0" marL="0" rtl="0" algn="l">
              <a:spcBef>
                <a:spcPts val="0"/>
              </a:spcBef>
              <a:spcAft>
                <a:spcPts val="0"/>
              </a:spcAft>
              <a:buNone/>
            </a:pPr>
            <a:r>
              <a:t/>
            </a:r>
            <a:endParaRPr b="1" u="sng">
              <a:solidFill>
                <a:srgbClr val="F1C232"/>
              </a:solidFill>
              <a:latin typeface="Oswald"/>
              <a:ea typeface="Oswald"/>
              <a:cs typeface="Oswald"/>
              <a:sym typeface="Oswald"/>
            </a:endParaRPr>
          </a:p>
        </p:txBody>
      </p:sp>
      <p:sp>
        <p:nvSpPr>
          <p:cNvPr id="225" name="Google Shape;225;p33"/>
          <p:cNvSpPr txBox="1"/>
          <p:nvPr/>
        </p:nvSpPr>
        <p:spPr>
          <a:xfrm>
            <a:off x="1390000" y="1079000"/>
            <a:ext cx="63030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2"/>
                </a:solidFill>
                <a:latin typeface="Lexend"/>
                <a:ea typeface="Lexend"/>
                <a:cs typeface="Lexend"/>
                <a:sym typeface="Lexend"/>
              </a:rPr>
              <a:t>tester.cpp randomly generates matrix dimensions and sparsity levels within a specified computational budget (∑ a·b·c ≤ MAX_OPS), constructs sparse matrix A and dense matrix B, and performs software-based multiplication to pr</a:t>
            </a:r>
            <a:r>
              <a:rPr b="1" lang="en" sz="1500">
                <a:solidFill>
                  <a:schemeClr val="dk2"/>
                </a:solidFill>
                <a:latin typeface="Lexend"/>
                <a:ea typeface="Lexend"/>
                <a:cs typeface="Lexend"/>
                <a:sym typeface="Lexend"/>
              </a:rPr>
              <a:t>o</a:t>
            </a:r>
            <a:r>
              <a:rPr b="1" lang="en" sz="1500">
                <a:solidFill>
                  <a:schemeClr val="dk2"/>
                </a:solidFill>
                <a:latin typeface="Lexend"/>
                <a:ea typeface="Lexend"/>
                <a:cs typeface="Lexend"/>
                <a:sym typeface="Lexend"/>
              </a:rPr>
              <a:t>duce a standard output. The matrices are then flattened and checked with </a:t>
            </a:r>
            <a:r>
              <a:rPr b="1" lang="en" sz="1500">
                <a:solidFill>
                  <a:schemeClr val="dk2"/>
                </a:solidFill>
                <a:latin typeface="Lexend"/>
                <a:ea typeface="Lexend"/>
                <a:cs typeface="Lexend"/>
                <a:sym typeface="Lexend"/>
              </a:rPr>
              <a:t>output</a:t>
            </a:r>
            <a:r>
              <a:rPr b="1" lang="en" sz="1500">
                <a:solidFill>
                  <a:schemeClr val="dk2"/>
                </a:solidFill>
                <a:latin typeface="Lexend"/>
                <a:ea typeface="Lexend"/>
                <a:cs typeface="Lexend"/>
                <a:sym typeface="Lexend"/>
              </a:rPr>
              <a:t> from simulator in testing mode RISC-V virtual machine.</a:t>
            </a:r>
            <a:endParaRPr b="1" sz="2200">
              <a:solidFill>
                <a:schemeClr val="dk2"/>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9" name="Shape 229"/>
        <p:cNvGrpSpPr/>
        <p:nvPr/>
      </p:nvGrpSpPr>
      <p:grpSpPr>
        <a:xfrm>
          <a:off x="0" y="0"/>
          <a:ext cx="0" cy="0"/>
          <a:chOff x="0" y="0"/>
          <a:chExt cx="0" cy="0"/>
        </a:xfrm>
      </p:grpSpPr>
      <p:sp>
        <p:nvSpPr>
          <p:cNvPr id="230" name="Google Shape;230;p34"/>
          <p:cNvSpPr txBox="1"/>
          <p:nvPr>
            <p:ph type="title"/>
          </p:nvPr>
        </p:nvSpPr>
        <p:spPr>
          <a:xfrm>
            <a:off x="1390000" y="379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u="sng">
                <a:solidFill>
                  <a:srgbClr val="F1C232"/>
                </a:solidFill>
                <a:latin typeface="Oswald"/>
                <a:ea typeface="Oswald"/>
                <a:cs typeface="Oswald"/>
                <a:sym typeface="Oswald"/>
              </a:rPr>
              <a:t>Few snapshots from randomly run cases.</a:t>
            </a:r>
            <a:r>
              <a:rPr b="1" lang="en" u="sng">
                <a:solidFill>
                  <a:srgbClr val="F1C232"/>
                </a:solidFill>
                <a:latin typeface="Oswald"/>
                <a:ea typeface="Oswald"/>
                <a:cs typeface="Oswald"/>
                <a:sym typeface="Oswald"/>
              </a:rPr>
              <a:t> </a:t>
            </a:r>
            <a:endParaRPr b="1" u="sng">
              <a:solidFill>
                <a:srgbClr val="F1C232"/>
              </a:solidFill>
              <a:latin typeface="Oswald"/>
              <a:ea typeface="Oswald"/>
              <a:cs typeface="Oswald"/>
              <a:sym typeface="Oswald"/>
            </a:endParaRPr>
          </a:p>
          <a:p>
            <a:pPr indent="0" lvl="0" marL="0" rtl="0" algn="l">
              <a:spcBef>
                <a:spcPts val="0"/>
              </a:spcBef>
              <a:spcAft>
                <a:spcPts val="0"/>
              </a:spcAft>
              <a:buNone/>
            </a:pPr>
            <a:r>
              <a:t/>
            </a:r>
            <a:endParaRPr b="1" u="sng">
              <a:solidFill>
                <a:srgbClr val="F1C232"/>
              </a:solidFill>
              <a:latin typeface="Oswald"/>
              <a:ea typeface="Oswald"/>
              <a:cs typeface="Oswald"/>
              <a:sym typeface="Oswald"/>
            </a:endParaRPr>
          </a:p>
        </p:txBody>
      </p:sp>
      <p:pic>
        <p:nvPicPr>
          <p:cNvPr id="231" name="Google Shape;231;p34" title="Screenshot from 2025-11-23 12-29-07.png"/>
          <p:cNvPicPr preferRelativeResize="0"/>
          <p:nvPr/>
        </p:nvPicPr>
        <p:blipFill rotWithShape="1">
          <a:blip r:embed="rId4">
            <a:alphaModFix/>
          </a:blip>
          <a:srcRect b="70889" l="0" r="0" t="0"/>
          <a:stretch/>
        </p:blipFill>
        <p:spPr>
          <a:xfrm>
            <a:off x="1032150" y="1242375"/>
            <a:ext cx="2021350" cy="3050750"/>
          </a:xfrm>
          <a:prstGeom prst="rect">
            <a:avLst/>
          </a:prstGeom>
          <a:noFill/>
          <a:ln>
            <a:noFill/>
          </a:ln>
        </p:spPr>
      </p:pic>
      <p:pic>
        <p:nvPicPr>
          <p:cNvPr id="232" name="Google Shape;232;p34" title="Screenshot from 2025-11-23 12-29-07.png"/>
          <p:cNvPicPr preferRelativeResize="0"/>
          <p:nvPr/>
        </p:nvPicPr>
        <p:blipFill rotWithShape="1">
          <a:blip r:embed="rId4">
            <a:alphaModFix/>
          </a:blip>
          <a:srcRect b="0" l="0" r="0" t="62217"/>
          <a:stretch/>
        </p:blipFill>
        <p:spPr>
          <a:xfrm>
            <a:off x="3265250" y="1207875"/>
            <a:ext cx="1464825" cy="3085249"/>
          </a:xfrm>
          <a:prstGeom prst="rect">
            <a:avLst/>
          </a:prstGeom>
          <a:noFill/>
          <a:ln cap="flat" cmpd="sng" w="9525">
            <a:solidFill>
              <a:schemeClr val="dk2"/>
            </a:solidFill>
            <a:prstDash val="solid"/>
            <a:round/>
            <a:headEnd len="sm" w="sm" type="none"/>
            <a:tailEnd len="sm" w="sm" type="none"/>
          </a:ln>
        </p:spPr>
      </p:pic>
      <p:sp>
        <p:nvSpPr>
          <p:cNvPr id="233" name="Google Shape;233;p34"/>
          <p:cNvSpPr txBox="1"/>
          <p:nvPr/>
        </p:nvSpPr>
        <p:spPr>
          <a:xfrm>
            <a:off x="4903325" y="1746250"/>
            <a:ext cx="3000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Lexend ExtraBold"/>
                <a:ea typeface="Lexend ExtraBold"/>
                <a:cs typeface="Lexend ExtraBold"/>
                <a:sym typeface="Lexend ExtraBold"/>
              </a:rPr>
              <a:t>The tester takes ‘t’ the number of test cases and sum of product of abc over all test cases.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generate  a nice slide with RISC-V Processor in backgrounf in dark blue theme, dont write powered by risc-v pls dont add any text on chip" id="238" name="Google Shape;238;p35"/>
          <p:cNvPicPr preferRelativeResize="0"/>
          <p:nvPr/>
        </p:nvPicPr>
        <p:blipFill rotWithShape="1">
          <a:blip r:embed="rId3">
            <a:alphaModFix/>
          </a:blip>
          <a:srcRect b="9409" l="-12650" r="0" t="11781"/>
          <a:stretch/>
        </p:blipFill>
        <p:spPr>
          <a:xfrm>
            <a:off x="-1979075" y="-240813"/>
            <a:ext cx="11739050" cy="5625125"/>
          </a:xfrm>
          <a:prstGeom prst="rect">
            <a:avLst/>
          </a:prstGeom>
          <a:noFill/>
          <a:ln>
            <a:noFill/>
          </a:ln>
        </p:spPr>
      </p:pic>
      <p:sp>
        <p:nvSpPr>
          <p:cNvPr id="239" name="Google Shape;239;p35"/>
          <p:cNvSpPr txBox="1"/>
          <p:nvPr/>
        </p:nvSpPr>
        <p:spPr>
          <a:xfrm>
            <a:off x="3211050" y="-87575"/>
            <a:ext cx="27219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rgbClr val="FF0000"/>
                </a:solidFill>
                <a:latin typeface="Bebas Neue"/>
                <a:ea typeface="Bebas Neue"/>
                <a:cs typeface="Bebas Neue"/>
                <a:sym typeface="Bebas Neue"/>
              </a:rPr>
              <a:t>THANK </a:t>
            </a:r>
            <a:r>
              <a:rPr b="1" lang="en" sz="4800">
                <a:solidFill>
                  <a:srgbClr val="FFFFFF"/>
                </a:solidFill>
                <a:latin typeface="Bebas Neue"/>
                <a:ea typeface="Bebas Neue"/>
                <a:cs typeface="Bebas Neue"/>
                <a:sym typeface="Bebas Neue"/>
              </a:rPr>
              <a:t>YOU</a:t>
            </a:r>
            <a:endParaRPr b="1" sz="4800">
              <a:solidFill>
                <a:srgbClr val="FFFFFF"/>
              </a:solidFill>
              <a:latin typeface="Bebas Neue"/>
              <a:ea typeface="Bebas Neue"/>
              <a:cs typeface="Bebas Neue"/>
              <a:sym typeface="Bebas Neu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